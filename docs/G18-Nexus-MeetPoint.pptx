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1" r:id="rId5"/>
    <p:sldId id="258" r:id="rId6"/>
    <p:sldId id="263" r:id="rId7"/>
    <p:sldId id="268" r:id="rId8"/>
    <p:sldId id="269" r:id="rId9"/>
    <p:sldId id="260" r:id="rId10"/>
    <p:sldId id="267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434"/>
    <a:srgbClr val="FAF9F4"/>
    <a:srgbClr val="EF812A"/>
    <a:srgbClr val="FCDB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 autoAdjust="0"/>
    <p:restoredTop sz="95775" autoAdjust="0"/>
  </p:normalViewPr>
  <p:slideViewPr>
    <p:cSldViewPr>
      <p:cViewPr varScale="1">
        <p:scale>
          <a:sx n="58" d="100"/>
          <a:sy n="58" d="100"/>
        </p:scale>
        <p:origin x="75" y="1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31285" y="516397"/>
            <a:ext cx="17225429" cy="3145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16"/>
              </a:lnSpc>
            </a:pPr>
            <a:r>
              <a:rPr lang="en-US" sz="14018" b="1" spc="-100" dirty="0" err="1">
                <a:solidFill>
                  <a:srgbClr val="EF4434"/>
                </a:solidFill>
                <a:latin typeface="Arial" panose="020B0604020202020204" pitchFamily="34" charset="0"/>
                <a:cs typeface="Arial" panose="020B0604020202020204" pitchFamily="34" charset="0"/>
                <a:sym typeface="Aileron Bold"/>
              </a:rPr>
              <a:t>MeetPoint</a:t>
            </a:r>
            <a:endParaRPr lang="en-US" sz="14018" b="1" spc="-100" dirty="0">
              <a:solidFill>
                <a:srgbClr val="EF4434"/>
              </a:solidFill>
              <a:latin typeface="Arial" panose="020B0604020202020204" pitchFamily="34" charset="0"/>
              <a:cs typeface="Arial" panose="020B0604020202020204" pitchFamily="34" charset="0"/>
              <a:sym typeface="Aileron Bold"/>
            </a:endParaRPr>
          </a:p>
          <a:p>
            <a:pPr algn="ctr">
              <a:lnSpc>
                <a:spcPts val="12616"/>
              </a:lnSpc>
            </a:pPr>
            <a:r>
              <a:rPr lang="zh-CN" altLang="en-US" sz="96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Aileron Bold"/>
              </a:rPr>
              <a:t>多人出行集合点推荐系统</a:t>
            </a:r>
            <a:endParaRPr lang="en-US" sz="96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Aileron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239248" y="7592103"/>
            <a:ext cx="11826080" cy="904197"/>
            <a:chOff x="0" y="0"/>
            <a:chExt cx="3199068" cy="2445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99068" cy="244594"/>
            </a:xfrm>
            <a:custGeom>
              <a:avLst/>
              <a:gdLst/>
              <a:ahLst/>
              <a:cxnLst/>
              <a:rect l="l" t="t" r="r" b="b"/>
              <a:pathLst>
                <a:path w="3199068" h="244594">
                  <a:moveTo>
                    <a:pt x="1599534" y="0"/>
                  </a:moveTo>
                  <a:cubicBezTo>
                    <a:pt x="716136" y="0"/>
                    <a:pt x="0" y="54754"/>
                    <a:pt x="0" y="122297"/>
                  </a:cubicBezTo>
                  <a:cubicBezTo>
                    <a:pt x="0" y="189840"/>
                    <a:pt x="716136" y="244594"/>
                    <a:pt x="1599534" y="244594"/>
                  </a:cubicBezTo>
                  <a:cubicBezTo>
                    <a:pt x="2482932" y="244594"/>
                    <a:pt x="3199068" y="189840"/>
                    <a:pt x="3199068" y="122297"/>
                  </a:cubicBezTo>
                  <a:cubicBezTo>
                    <a:pt x="3199068" y="54754"/>
                    <a:pt x="2482932" y="0"/>
                    <a:pt x="1599534" y="0"/>
                  </a:cubicBezTo>
                  <a:close/>
                </a:path>
              </a:pathLst>
            </a:custGeom>
            <a:solidFill>
              <a:srgbClr val="F26843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99913" y="-24694"/>
              <a:ext cx="2599243" cy="2463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66507" y="3704615"/>
            <a:ext cx="12118284" cy="4574652"/>
          </a:xfrm>
          <a:custGeom>
            <a:avLst/>
            <a:gdLst/>
            <a:ahLst/>
            <a:cxnLst/>
            <a:rect l="l" t="t" r="r" b="b"/>
            <a:pathLst>
              <a:path w="12118284" h="4574652">
                <a:moveTo>
                  <a:pt x="0" y="0"/>
                </a:moveTo>
                <a:lnTo>
                  <a:pt x="12118284" y="0"/>
                </a:lnTo>
                <a:lnTo>
                  <a:pt x="12118284" y="4574652"/>
                </a:lnTo>
                <a:lnTo>
                  <a:pt x="0" y="4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71D386-EE28-697A-6FF5-6F75C44EBAB0}"/>
              </a:ext>
            </a:extLst>
          </p:cNvPr>
          <p:cNvSpPr txBox="1"/>
          <p:nvPr/>
        </p:nvSpPr>
        <p:spPr>
          <a:xfrm>
            <a:off x="3747296" y="8759904"/>
            <a:ext cx="116090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0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neXus</a:t>
            </a:r>
            <a:r>
              <a:rPr lang="en-US" altLang="zh-CN" sz="30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黑体" panose="02010609060101010101" pitchFamily="49" charset="-122"/>
              </a:rPr>
              <a:t>成员：何雯  曾戢好  董馨叶  马海霞  鲜佳霖  郭绍文  幸可函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AA9A58-737B-E5EF-2241-4F690D6F45B1}"/>
              </a:ext>
            </a:extLst>
          </p:cNvPr>
          <p:cNvSpPr txBox="1"/>
          <p:nvPr/>
        </p:nvSpPr>
        <p:spPr>
          <a:xfrm>
            <a:off x="3783391" y="9313902"/>
            <a:ext cx="11201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000" dirty="0">
                <a:latin typeface="Arial" panose="020B0604020202020204" pitchFamily="34" charset="0"/>
                <a:ea typeface="黑体" panose="02010609060101010101" pitchFamily="49" charset="-122"/>
              </a:rPr>
              <a:t>汇报人：何雯  曾戢好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9563100"/>
            <a:ext cx="3086100" cy="515961"/>
            <a:chOff x="0" y="0"/>
            <a:chExt cx="812800" cy="1358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35891"/>
            </a:xfrm>
            <a:custGeom>
              <a:avLst/>
              <a:gdLst/>
              <a:ahLst/>
              <a:cxnLst/>
              <a:rect l="l" t="t" r="r" b="b"/>
              <a:pathLst>
                <a:path w="812800" h="135891">
                  <a:moveTo>
                    <a:pt x="406400" y="0"/>
                  </a:moveTo>
                  <a:cubicBezTo>
                    <a:pt x="181951" y="0"/>
                    <a:pt x="0" y="30420"/>
                    <a:pt x="0" y="67945"/>
                  </a:cubicBezTo>
                  <a:cubicBezTo>
                    <a:pt x="0" y="105471"/>
                    <a:pt x="181951" y="135891"/>
                    <a:pt x="406400" y="135891"/>
                  </a:cubicBezTo>
                  <a:cubicBezTo>
                    <a:pt x="630849" y="135891"/>
                    <a:pt x="812800" y="105471"/>
                    <a:pt x="812800" y="67945"/>
                  </a:cubicBezTo>
                  <a:cubicBezTo>
                    <a:pt x="812800" y="304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34885"/>
              <a:ext cx="660400" cy="158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6390" y="2095500"/>
            <a:ext cx="3769738" cy="7763862"/>
            <a:chOff x="0" y="0"/>
            <a:chExt cx="5026318" cy="10887330"/>
          </a:xfrm>
        </p:grpSpPr>
        <p:grpSp>
          <p:nvGrpSpPr>
            <p:cNvPr id="6" name="Group 6"/>
            <p:cNvGrpSpPr/>
            <p:nvPr/>
          </p:nvGrpSpPr>
          <p:grpSpPr>
            <a:xfrm>
              <a:off x="2557993" y="670805"/>
              <a:ext cx="2127214" cy="212721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F4434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8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0" y="0"/>
              <a:ext cx="5026318" cy="10887330"/>
            </a:xfrm>
            <a:custGeom>
              <a:avLst/>
              <a:gdLst/>
              <a:ahLst/>
              <a:cxnLst/>
              <a:rect l="l" t="t" r="r" b="b"/>
              <a:pathLst>
                <a:path w="5026318" h="10887330">
                  <a:moveTo>
                    <a:pt x="0" y="0"/>
                  </a:moveTo>
                  <a:lnTo>
                    <a:pt x="5026318" y="0"/>
                  </a:lnTo>
                  <a:lnTo>
                    <a:pt x="5026318" y="10887330"/>
                  </a:lnTo>
                  <a:lnTo>
                    <a:pt x="0" y="10887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72200" y="2434215"/>
            <a:ext cx="10423384" cy="104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1F191A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随着城市生活与社交活动日益丰富，多人跨区域出行、聚餐及休闲活动越来越常见。然而，在确定集合地点时，往往面临以下问题：</a:t>
            </a:r>
            <a:endParaRPr lang="en-US" sz="2400" b="1" dirty="0">
              <a:solidFill>
                <a:srgbClr val="1F191A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sp>
        <p:nvSpPr>
          <p:cNvPr id="12" name="Freeform 12"/>
          <p:cNvSpPr/>
          <p:nvPr/>
        </p:nvSpPr>
        <p:spPr>
          <a:xfrm rot="5400000">
            <a:off x="6019800" y="6716812"/>
            <a:ext cx="736376" cy="736376"/>
          </a:xfrm>
          <a:custGeom>
            <a:avLst/>
            <a:gdLst/>
            <a:ahLst/>
            <a:cxnLst/>
            <a:rect l="l" t="t" r="r" b="b"/>
            <a:pathLst>
              <a:path w="736376" h="736376">
                <a:moveTo>
                  <a:pt x="0" y="0"/>
                </a:moveTo>
                <a:lnTo>
                  <a:pt x="736377" y="0"/>
                </a:lnTo>
                <a:lnTo>
                  <a:pt x="736377" y="736376"/>
                </a:lnTo>
                <a:lnTo>
                  <a:pt x="0" y="736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631FD20-0D6E-AC49-CA2B-6EF072E135C1}"/>
              </a:ext>
            </a:extLst>
          </p:cNvPr>
          <p:cNvSpPr txBox="1"/>
          <p:nvPr/>
        </p:nvSpPr>
        <p:spPr>
          <a:xfrm>
            <a:off x="398057" y="190500"/>
            <a:ext cx="1735543" cy="1595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zh-CN" altLang="en-US" sz="977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CB04705-B129-A9AB-B14B-E3ABF354B67F}"/>
              </a:ext>
            </a:extLst>
          </p:cNvPr>
          <p:cNvSpPr txBox="1"/>
          <p:nvPr/>
        </p:nvSpPr>
        <p:spPr>
          <a:xfrm>
            <a:off x="1758669" y="113964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多人出行，为什么选择集合地点如此困难？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C20C20-A400-B913-7CF1-BAAE19E47011}"/>
              </a:ext>
            </a:extLst>
          </p:cNvPr>
          <p:cNvSpPr txBox="1"/>
          <p:nvPr/>
        </p:nvSpPr>
        <p:spPr>
          <a:xfrm>
            <a:off x="1752600" y="394383"/>
            <a:ext cx="9269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48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项目背景与意义</a:t>
            </a:r>
            <a:endParaRPr lang="zh-CN" altLang="en-US" sz="48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D8A481-6C1C-87E4-9798-D394F69794EC}"/>
              </a:ext>
            </a:extLst>
          </p:cNvPr>
          <p:cNvSpPr txBox="1"/>
          <p:nvPr/>
        </p:nvSpPr>
        <p:spPr>
          <a:xfrm>
            <a:off x="6172200" y="3643020"/>
            <a:ext cx="11929009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出发位置分散：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不同成员距离候选集合点的远近存在差异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交通方式不同：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地铁、公交、骑行等交通方式带来不同的出行成本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个体偏好差异：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成员在活动类型、口味、预算等方面难以达成一致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沟通决策低效：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传统群聊依赖反复讨论，缺乏统一、客观的方案比较依据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89CC83-CEF2-9299-EFC1-C63B4DAC2D96}"/>
              </a:ext>
            </a:extLst>
          </p:cNvPr>
          <p:cNvSpPr txBox="1"/>
          <p:nvPr/>
        </p:nvSpPr>
        <p:spPr>
          <a:xfrm>
            <a:off x="6858000" y="6761834"/>
            <a:ext cx="9269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项目意义</a:t>
            </a:r>
            <a:endParaRPr lang="zh-CN" altLang="en-US" sz="36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F4D50DF-3F6D-7433-E561-643BFAFA6A0B}"/>
              </a:ext>
            </a:extLst>
          </p:cNvPr>
          <p:cNvSpPr txBox="1"/>
          <p:nvPr/>
        </p:nvSpPr>
        <p:spPr>
          <a:xfrm>
            <a:off x="6019800" y="7523834"/>
            <a:ext cx="11236044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Arial" panose="020B0604020202020204" pitchFamily="34" charset="0"/>
                <a:ea typeface="黑体" panose="02010609060101010101" pitchFamily="49" charset="-122"/>
              </a:rPr>
              <a:t>MeetPoint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旨在为多人活动提供综合考虑出行</a:t>
            </a: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公平性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成员偏好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交通便利性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的集合地点推荐，借助共同投票降低协调成本，提高集合决策效率。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7636999-7FA5-103F-A88F-913E3DF326C0}"/>
              </a:ext>
            </a:extLst>
          </p:cNvPr>
          <p:cNvSpPr/>
          <p:nvPr/>
        </p:nvSpPr>
        <p:spPr>
          <a:xfrm>
            <a:off x="5943600" y="2345388"/>
            <a:ext cx="11430000" cy="3672368"/>
          </a:xfrm>
          <a:prstGeom prst="rect">
            <a:avLst/>
          </a:prstGeom>
          <a:noFill/>
          <a:ln w="38100">
            <a:solidFill>
              <a:srgbClr val="EF4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53993" y="8347896"/>
            <a:ext cx="5635865" cy="1286533"/>
            <a:chOff x="0" y="0"/>
            <a:chExt cx="2247576" cy="5130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7576" cy="513068"/>
            </a:xfrm>
            <a:custGeom>
              <a:avLst/>
              <a:gdLst/>
              <a:ahLst/>
              <a:cxnLst/>
              <a:rect l="l" t="t" r="r" b="b"/>
              <a:pathLst>
                <a:path w="2247576" h="513068">
                  <a:moveTo>
                    <a:pt x="1123788" y="0"/>
                  </a:moveTo>
                  <a:cubicBezTo>
                    <a:pt x="503137" y="0"/>
                    <a:pt x="0" y="114854"/>
                    <a:pt x="0" y="256534"/>
                  </a:cubicBezTo>
                  <a:cubicBezTo>
                    <a:pt x="0" y="398214"/>
                    <a:pt x="503137" y="513068"/>
                    <a:pt x="1123788" y="513068"/>
                  </a:cubicBezTo>
                  <a:cubicBezTo>
                    <a:pt x="1744439" y="513068"/>
                    <a:pt x="2247576" y="398214"/>
                    <a:pt x="2247576" y="256534"/>
                  </a:cubicBezTo>
                  <a:cubicBezTo>
                    <a:pt x="2247576" y="114854"/>
                    <a:pt x="1744439" y="0"/>
                    <a:pt x="1123788" y="0"/>
                  </a:cubicBezTo>
                  <a:close/>
                </a:path>
              </a:pathLst>
            </a:custGeom>
            <a:solidFill>
              <a:srgbClr val="F26843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10710" y="475"/>
              <a:ext cx="1826155" cy="464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734800" y="6892007"/>
            <a:ext cx="6224167" cy="3270281"/>
          </a:xfrm>
          <a:custGeom>
            <a:avLst/>
            <a:gdLst/>
            <a:ahLst/>
            <a:cxnLst/>
            <a:rect l="l" t="t" r="r" b="b"/>
            <a:pathLst>
              <a:path w="9424567" h="4951825">
                <a:moveTo>
                  <a:pt x="0" y="0"/>
                </a:moveTo>
                <a:lnTo>
                  <a:pt x="9424567" y="0"/>
                </a:lnTo>
                <a:lnTo>
                  <a:pt x="9424567" y="4951825"/>
                </a:lnTo>
                <a:lnTo>
                  <a:pt x="0" y="4951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A8C336-4EF6-B29C-4699-299F32598002}"/>
              </a:ext>
            </a:extLst>
          </p:cNvPr>
          <p:cNvSpPr txBox="1"/>
          <p:nvPr/>
        </p:nvSpPr>
        <p:spPr>
          <a:xfrm>
            <a:off x="398057" y="190500"/>
            <a:ext cx="1735543" cy="1595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zh-CN" altLang="en-US" sz="977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F7EA351-1C60-883B-570E-E322F99E96E0}"/>
              </a:ext>
            </a:extLst>
          </p:cNvPr>
          <p:cNvSpPr txBox="1"/>
          <p:nvPr/>
        </p:nvSpPr>
        <p:spPr>
          <a:xfrm>
            <a:off x="1752600" y="113261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明确谁使用系统，以及他们分别需要什么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175727-05BA-C961-B028-46C8327392D9}"/>
              </a:ext>
            </a:extLst>
          </p:cNvPr>
          <p:cNvSpPr txBox="1"/>
          <p:nvPr/>
        </p:nvSpPr>
        <p:spPr>
          <a:xfrm>
            <a:off x="1752600" y="394383"/>
            <a:ext cx="9269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干系人分析与需求抽取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75CA35A-09D6-B90E-F090-3C5623C44E2E}"/>
              </a:ext>
            </a:extLst>
          </p:cNvPr>
          <p:cNvGraphicFramePr>
            <a:graphicFrameLocks noGrp="1"/>
          </p:cNvGraphicFramePr>
          <p:nvPr/>
        </p:nvGraphicFramePr>
        <p:xfrm>
          <a:off x="724238" y="1852132"/>
          <a:ext cx="16685150" cy="3195075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3680815465"/>
                    </a:ext>
                  </a:extLst>
                </a:gridCol>
                <a:gridCol w="12417950">
                  <a:extLst>
                    <a:ext uri="{9D8B030D-6E8A-4147-A177-3AD203B41FA5}">
                      <a16:colId xmlns:a16="http://schemas.microsoft.com/office/drawing/2014/main" val="3456778732"/>
                    </a:ext>
                  </a:extLst>
                </a:gridCol>
              </a:tblGrid>
              <a:tr h="67717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3200" b="1" dirty="0">
                          <a:solidFill>
                            <a:srgbClr val="EF4434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干系人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3200" b="1" dirty="0">
                          <a:solidFill>
                            <a:srgbClr val="EF4434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核心需求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240168"/>
                  </a:ext>
                </a:extLst>
              </a:tr>
              <a:tr h="644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集合发起者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创建集合活动、邀请成员、协调集合安排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192191"/>
                  </a:ext>
                </a:extLst>
              </a:tr>
              <a:tr h="6263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集合参与者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设置出发地、交通方式与活动偏好，控制位置信息公开范围，参与地点投票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9025464"/>
                  </a:ext>
                </a:extLst>
              </a:tr>
              <a:tr h="66173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系统管理员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处理用户反馈、维护系统正常服务、保障用户信息安全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650256"/>
                  </a:ext>
                </a:extLst>
              </a:tr>
              <a:tr h="52972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第三方地图服务提供方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1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在约定的数据接口与授权规则下提供位置、地点和出行路线信息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001193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1B95EAC9-B63C-3774-2B13-CD9C3725888B}"/>
              </a:ext>
            </a:extLst>
          </p:cNvPr>
          <p:cNvSpPr txBox="1"/>
          <p:nvPr/>
        </p:nvSpPr>
        <p:spPr>
          <a:xfrm>
            <a:off x="1561762" y="5524500"/>
            <a:ext cx="9273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6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典型需求场景</a:t>
            </a:r>
            <a:endParaRPr lang="zh-CN" altLang="en-US" sz="36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Freeform 12">
            <a:extLst>
              <a:ext uri="{FF2B5EF4-FFF2-40B4-BE49-F238E27FC236}">
                <a16:creationId xmlns:a16="http://schemas.microsoft.com/office/drawing/2014/main" id="{B853F91F-E59A-3EE6-AA5A-3D38C6B28F7F}"/>
              </a:ext>
            </a:extLst>
          </p:cNvPr>
          <p:cNvSpPr/>
          <p:nvPr/>
        </p:nvSpPr>
        <p:spPr>
          <a:xfrm rot="5400000">
            <a:off x="672986" y="5479478"/>
            <a:ext cx="736376" cy="736376"/>
          </a:xfrm>
          <a:custGeom>
            <a:avLst/>
            <a:gdLst/>
            <a:ahLst/>
            <a:cxnLst/>
            <a:rect l="l" t="t" r="r" b="b"/>
            <a:pathLst>
              <a:path w="736376" h="736376">
                <a:moveTo>
                  <a:pt x="0" y="0"/>
                </a:moveTo>
                <a:lnTo>
                  <a:pt x="736377" y="0"/>
                </a:lnTo>
                <a:lnTo>
                  <a:pt x="736377" y="736376"/>
                </a:lnTo>
                <a:lnTo>
                  <a:pt x="0" y="736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023C21-E3B4-5E99-C7AE-862173679020}"/>
              </a:ext>
            </a:extLst>
          </p:cNvPr>
          <p:cNvSpPr txBox="1"/>
          <p:nvPr/>
        </p:nvSpPr>
        <p:spPr>
          <a:xfrm>
            <a:off x="609600" y="6215854"/>
            <a:ext cx="12812389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四名同学分别从不同地点出发，采用地铁、公交或骑行等方式，计划共同聚餐。每个人都希望交通便利、预算合理，并且可以自主决定是否向其他成员公开自己的出发位置。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8490F8-9951-66F9-1342-35A2202150B3}"/>
              </a:ext>
            </a:extLst>
          </p:cNvPr>
          <p:cNvSpPr txBox="1"/>
          <p:nvPr/>
        </p:nvSpPr>
        <p:spPr>
          <a:xfrm>
            <a:off x="644665" y="7498149"/>
            <a:ext cx="9273472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公平出行：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平衡成员间的出行负担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偏好匹配：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综合考虑预算、口味和活动类型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隐私保护：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成员自主选择是否公开出发位置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群体决策：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通过投票自动确定最终集合地点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D5F88E5-B244-E0BF-64F9-E8D0134ABD86}"/>
              </a:ext>
            </a:extLst>
          </p:cNvPr>
          <p:cNvSpPr/>
          <p:nvPr/>
        </p:nvSpPr>
        <p:spPr>
          <a:xfrm>
            <a:off x="598136" y="1897154"/>
            <a:ext cx="15137502" cy="3342638"/>
          </a:xfrm>
          <a:prstGeom prst="rect">
            <a:avLst/>
          </a:prstGeom>
          <a:noFill/>
          <a:ln w="38100">
            <a:solidFill>
              <a:srgbClr val="EF4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" y="6503107"/>
            <a:ext cx="5524500" cy="3527582"/>
            <a:chOff x="0" y="0"/>
            <a:chExt cx="11743481" cy="749861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4257264"/>
              <a:ext cx="11743481" cy="3241350"/>
              <a:chOff x="0" y="0"/>
              <a:chExt cx="2319700" cy="64026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319700" cy="640267"/>
              </a:xfrm>
              <a:custGeom>
                <a:avLst/>
                <a:gdLst/>
                <a:ahLst/>
                <a:cxnLst/>
                <a:rect l="l" t="t" r="r" b="b"/>
                <a:pathLst>
                  <a:path w="2319700" h="640267">
                    <a:moveTo>
                      <a:pt x="1159850" y="0"/>
                    </a:moveTo>
                    <a:cubicBezTo>
                      <a:pt x="519282" y="0"/>
                      <a:pt x="0" y="143329"/>
                      <a:pt x="0" y="320133"/>
                    </a:cubicBezTo>
                    <a:cubicBezTo>
                      <a:pt x="0" y="496938"/>
                      <a:pt x="519282" y="640267"/>
                      <a:pt x="1159850" y="640267"/>
                    </a:cubicBezTo>
                    <a:cubicBezTo>
                      <a:pt x="1800417" y="640267"/>
                      <a:pt x="2319700" y="496938"/>
                      <a:pt x="2319700" y="320133"/>
                    </a:cubicBezTo>
                    <a:cubicBezTo>
                      <a:pt x="2319700" y="143329"/>
                      <a:pt x="1800417" y="0"/>
                      <a:pt x="1159850" y="0"/>
                    </a:cubicBezTo>
                    <a:close/>
                  </a:path>
                </a:pathLst>
              </a:custGeom>
              <a:solidFill>
                <a:srgbClr val="F26843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217472" y="12400"/>
                <a:ext cx="1884756" cy="5678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8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 flipH="1">
              <a:off x="569767" y="0"/>
              <a:ext cx="10219576" cy="7498614"/>
            </a:xfrm>
            <a:custGeom>
              <a:avLst/>
              <a:gdLst/>
              <a:ahLst/>
              <a:cxnLst/>
              <a:rect l="l" t="t" r="r" b="b"/>
              <a:pathLst>
                <a:path w="10219576" h="7498614">
                  <a:moveTo>
                    <a:pt x="10219576" y="0"/>
                  </a:moveTo>
                  <a:lnTo>
                    <a:pt x="0" y="0"/>
                  </a:lnTo>
                  <a:lnTo>
                    <a:pt x="0" y="7498614"/>
                  </a:lnTo>
                  <a:lnTo>
                    <a:pt x="10219576" y="7498614"/>
                  </a:lnTo>
                  <a:lnTo>
                    <a:pt x="10219576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0049" y="2762226"/>
            <a:ext cx="3159845" cy="844982"/>
            <a:chOff x="0" y="-37058"/>
            <a:chExt cx="1733465" cy="4635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3465" cy="406400"/>
            </a:xfrm>
            <a:custGeom>
              <a:avLst/>
              <a:gdLst/>
              <a:ahLst/>
              <a:cxnLst/>
              <a:rect l="l" t="t" r="r" b="b"/>
              <a:pathLst>
                <a:path w="1733465" h="406400">
                  <a:moveTo>
                    <a:pt x="1530265" y="0"/>
                  </a:moveTo>
                  <a:cubicBezTo>
                    <a:pt x="1642489" y="0"/>
                    <a:pt x="1733465" y="90976"/>
                    <a:pt x="1733465" y="203200"/>
                  </a:cubicBezTo>
                  <a:cubicBezTo>
                    <a:pt x="1733465" y="315424"/>
                    <a:pt x="1642489" y="406400"/>
                    <a:pt x="15302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b="1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7058"/>
              <a:ext cx="17334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31"/>
                </a:lnSpc>
                <a:spcBef>
                  <a:spcPct val="0"/>
                </a:spcBef>
              </a:pPr>
              <a:r>
                <a:rPr lang="zh-CN" altLang="en-US" sz="3200" b="1" u="none" strike="noStrike" dirty="0">
                  <a:solidFill>
                    <a:srgbClr val="1F191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Open Sauce"/>
                  <a:sym typeface="Open Sauce"/>
                </a:rPr>
                <a:t>公平合理</a:t>
              </a:r>
              <a:endParaRPr lang="en-US" sz="3200" b="1" u="none" strike="noStrike" dirty="0">
                <a:solidFill>
                  <a:srgbClr val="1F191A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"/>
                <a:sym typeface="Open Sauce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6B146A59-CEA9-D0AA-2F26-A83966271735}"/>
              </a:ext>
            </a:extLst>
          </p:cNvPr>
          <p:cNvSpPr txBox="1"/>
          <p:nvPr/>
        </p:nvSpPr>
        <p:spPr>
          <a:xfrm>
            <a:off x="398057" y="190500"/>
            <a:ext cx="1735543" cy="1595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zh-CN" altLang="en-US" sz="977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D65D60-AB07-763D-D83E-594C069D9B1E}"/>
              </a:ext>
            </a:extLst>
          </p:cNvPr>
          <p:cNvSpPr txBox="1"/>
          <p:nvPr/>
        </p:nvSpPr>
        <p:spPr>
          <a:xfrm>
            <a:off x="1752600" y="113261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三个设计主要目标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4A78B6-411E-7897-22F9-C2D75F4B02A2}"/>
              </a:ext>
            </a:extLst>
          </p:cNvPr>
          <p:cNvSpPr txBox="1"/>
          <p:nvPr/>
        </p:nvSpPr>
        <p:spPr>
          <a:xfrm>
            <a:off x="1752600" y="394383"/>
            <a:ext cx="9269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软件设计目标与主要功能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18A71A-3014-4A41-C24B-BD186DB0A1D3}"/>
              </a:ext>
            </a:extLst>
          </p:cNvPr>
          <p:cNvSpPr txBox="1"/>
          <p:nvPr/>
        </p:nvSpPr>
        <p:spPr>
          <a:xfrm>
            <a:off x="1281338" y="1891725"/>
            <a:ext cx="158636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MeetPoint</a:t>
            </a:r>
            <a:r>
              <a:rPr lang="en-US" altLang="zh-CN" sz="32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zh-CN" sz="32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致力于构建一个面向</a:t>
            </a:r>
            <a:r>
              <a:rPr lang="zh-CN" altLang="zh-CN" sz="3200" b="1" dirty="0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多人出行场景的集合地点</a:t>
            </a:r>
            <a:r>
              <a:rPr lang="zh-CN" altLang="zh-CN" sz="32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智能推荐与协同决策平台</a:t>
            </a:r>
            <a:r>
              <a:rPr lang="zh-CN" altLang="en-US" sz="32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C7F214C2-C33D-495E-3B62-262879D4C370}"/>
              </a:ext>
            </a:extLst>
          </p:cNvPr>
          <p:cNvSpPr/>
          <p:nvPr/>
        </p:nvSpPr>
        <p:spPr>
          <a:xfrm rot="5400000">
            <a:off x="471510" y="1852132"/>
            <a:ext cx="736376" cy="736376"/>
          </a:xfrm>
          <a:custGeom>
            <a:avLst/>
            <a:gdLst/>
            <a:ahLst/>
            <a:cxnLst/>
            <a:rect l="l" t="t" r="r" b="b"/>
            <a:pathLst>
              <a:path w="736376" h="736376">
                <a:moveTo>
                  <a:pt x="0" y="0"/>
                </a:moveTo>
                <a:lnTo>
                  <a:pt x="736377" y="0"/>
                </a:lnTo>
                <a:lnTo>
                  <a:pt x="736377" y="736376"/>
                </a:lnTo>
                <a:lnTo>
                  <a:pt x="0" y="736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32" name="Group 7">
            <a:extLst>
              <a:ext uri="{FF2B5EF4-FFF2-40B4-BE49-F238E27FC236}">
                <a16:creationId xmlns:a16="http://schemas.microsoft.com/office/drawing/2014/main" id="{F987B1D4-B81F-7C36-4584-762F97ED4D7D}"/>
              </a:ext>
            </a:extLst>
          </p:cNvPr>
          <p:cNvGrpSpPr/>
          <p:nvPr/>
        </p:nvGrpSpPr>
        <p:grpSpPr>
          <a:xfrm>
            <a:off x="6934200" y="2762226"/>
            <a:ext cx="3159845" cy="844982"/>
            <a:chOff x="0" y="-37058"/>
            <a:chExt cx="1733465" cy="463550"/>
          </a:xfrm>
        </p:grpSpPr>
        <p:sp>
          <p:nvSpPr>
            <p:cNvPr id="33" name="Freeform 8">
              <a:extLst>
                <a:ext uri="{FF2B5EF4-FFF2-40B4-BE49-F238E27FC236}">
                  <a16:creationId xmlns:a16="http://schemas.microsoft.com/office/drawing/2014/main" id="{EFE84A31-2C26-350B-5CA1-AB649B9E866E}"/>
                </a:ext>
              </a:extLst>
            </p:cNvPr>
            <p:cNvSpPr/>
            <p:nvPr/>
          </p:nvSpPr>
          <p:spPr>
            <a:xfrm>
              <a:off x="0" y="0"/>
              <a:ext cx="1733465" cy="406400"/>
            </a:xfrm>
            <a:custGeom>
              <a:avLst/>
              <a:gdLst/>
              <a:ahLst/>
              <a:cxnLst/>
              <a:rect l="l" t="t" r="r" b="b"/>
              <a:pathLst>
                <a:path w="1733465" h="406400">
                  <a:moveTo>
                    <a:pt x="1530265" y="0"/>
                  </a:moveTo>
                  <a:cubicBezTo>
                    <a:pt x="1642489" y="0"/>
                    <a:pt x="1733465" y="90976"/>
                    <a:pt x="1733465" y="203200"/>
                  </a:cubicBezTo>
                  <a:cubicBezTo>
                    <a:pt x="1733465" y="315424"/>
                    <a:pt x="1642489" y="406400"/>
                    <a:pt x="15302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9">
              <a:extLst>
                <a:ext uri="{FF2B5EF4-FFF2-40B4-BE49-F238E27FC236}">
                  <a16:creationId xmlns:a16="http://schemas.microsoft.com/office/drawing/2014/main" id="{DA4D1880-C635-675D-62E5-3D57CD61DF9C}"/>
                </a:ext>
              </a:extLst>
            </p:cNvPr>
            <p:cNvSpPr txBox="1"/>
            <p:nvPr/>
          </p:nvSpPr>
          <p:spPr>
            <a:xfrm>
              <a:off x="0" y="-37058"/>
              <a:ext cx="17334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31"/>
                </a:lnSpc>
                <a:spcBef>
                  <a:spcPct val="0"/>
                </a:spcBef>
              </a:pPr>
              <a:r>
                <a:rPr lang="zh-CN" altLang="en-US" sz="3200" b="1" u="none" strike="noStrike" dirty="0">
                  <a:solidFill>
                    <a:srgbClr val="1F191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Open Sauce"/>
                  <a:sym typeface="Open Sauce"/>
                </a:rPr>
                <a:t>尊重个体</a:t>
              </a:r>
              <a:endParaRPr lang="en-US" sz="3200" b="1" u="none" strike="noStrike" dirty="0">
                <a:solidFill>
                  <a:srgbClr val="1F191A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"/>
                <a:sym typeface="Open Sauce"/>
              </a:endParaRPr>
            </a:p>
          </p:txBody>
        </p:sp>
      </p:grpSp>
      <p:grpSp>
        <p:nvGrpSpPr>
          <p:cNvPr id="35" name="Group 7">
            <a:extLst>
              <a:ext uri="{FF2B5EF4-FFF2-40B4-BE49-F238E27FC236}">
                <a16:creationId xmlns:a16="http://schemas.microsoft.com/office/drawing/2014/main" id="{A3EECEC8-F44F-367E-DDB0-473ACB752346}"/>
              </a:ext>
            </a:extLst>
          </p:cNvPr>
          <p:cNvGrpSpPr/>
          <p:nvPr/>
        </p:nvGrpSpPr>
        <p:grpSpPr>
          <a:xfrm>
            <a:off x="12108351" y="2725601"/>
            <a:ext cx="3159845" cy="844982"/>
            <a:chOff x="0" y="-37058"/>
            <a:chExt cx="1733465" cy="463550"/>
          </a:xfrm>
        </p:grpSpPr>
        <p:sp>
          <p:nvSpPr>
            <p:cNvPr id="36" name="Freeform 8">
              <a:extLst>
                <a:ext uri="{FF2B5EF4-FFF2-40B4-BE49-F238E27FC236}">
                  <a16:creationId xmlns:a16="http://schemas.microsoft.com/office/drawing/2014/main" id="{CC4FBBDD-DE79-B148-CEDC-245B90690A3B}"/>
                </a:ext>
              </a:extLst>
            </p:cNvPr>
            <p:cNvSpPr/>
            <p:nvPr/>
          </p:nvSpPr>
          <p:spPr>
            <a:xfrm>
              <a:off x="0" y="0"/>
              <a:ext cx="1733465" cy="406400"/>
            </a:xfrm>
            <a:custGeom>
              <a:avLst/>
              <a:gdLst/>
              <a:ahLst/>
              <a:cxnLst/>
              <a:rect l="l" t="t" r="r" b="b"/>
              <a:pathLst>
                <a:path w="1733465" h="406400">
                  <a:moveTo>
                    <a:pt x="1530265" y="0"/>
                  </a:moveTo>
                  <a:cubicBezTo>
                    <a:pt x="1642489" y="0"/>
                    <a:pt x="1733465" y="90976"/>
                    <a:pt x="1733465" y="203200"/>
                  </a:cubicBezTo>
                  <a:cubicBezTo>
                    <a:pt x="1733465" y="315424"/>
                    <a:pt x="1642489" y="406400"/>
                    <a:pt x="1530265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9">
              <a:extLst>
                <a:ext uri="{FF2B5EF4-FFF2-40B4-BE49-F238E27FC236}">
                  <a16:creationId xmlns:a16="http://schemas.microsoft.com/office/drawing/2014/main" id="{A215657B-3131-476A-C85F-CDFCD428BB9A}"/>
                </a:ext>
              </a:extLst>
            </p:cNvPr>
            <p:cNvSpPr txBox="1"/>
            <p:nvPr/>
          </p:nvSpPr>
          <p:spPr>
            <a:xfrm>
              <a:off x="0" y="-37058"/>
              <a:ext cx="17334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31"/>
                </a:lnSpc>
                <a:spcBef>
                  <a:spcPct val="0"/>
                </a:spcBef>
              </a:pPr>
              <a:r>
                <a:rPr lang="zh-CN" altLang="en-US" sz="3200" b="1" u="none" strike="noStrike" dirty="0">
                  <a:solidFill>
                    <a:srgbClr val="1F191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Open Sauce"/>
                  <a:sym typeface="Open Sauce"/>
                </a:rPr>
                <a:t>高效协作</a:t>
              </a:r>
              <a:endParaRPr lang="en-US" sz="3200" b="1" u="none" strike="noStrike" dirty="0">
                <a:solidFill>
                  <a:srgbClr val="1F191A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"/>
                <a:sym typeface="Open Sauce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FC0FB75F-DF73-EF8F-A17A-311875C0D45D}"/>
              </a:ext>
            </a:extLst>
          </p:cNvPr>
          <p:cNvSpPr txBox="1"/>
          <p:nvPr/>
        </p:nvSpPr>
        <p:spPr>
          <a:xfrm>
            <a:off x="1295400" y="3695700"/>
            <a:ext cx="4494302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综合考虑各成员的</a:t>
            </a:r>
            <a:r>
              <a:rPr lang="zh-CN" altLang="zh-CN" sz="2400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实际出行负担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，减少明显不公平的集合安排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B40C556-EAC3-55F2-9830-F7909B76D96F}"/>
              </a:ext>
            </a:extLst>
          </p:cNvPr>
          <p:cNvSpPr txBox="1"/>
          <p:nvPr/>
        </p:nvSpPr>
        <p:spPr>
          <a:xfrm>
            <a:off x="6702628" y="3756083"/>
            <a:ext cx="4133092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兼顾成员</a:t>
            </a:r>
            <a:r>
              <a:rPr lang="zh-CN" altLang="en-US" sz="2400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活动偏好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及</a:t>
            </a:r>
            <a:r>
              <a:rPr lang="zh-CN" altLang="en-US" sz="2400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位置隐私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等个性化需求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D77D23E-0EE1-9817-76B9-1151133DC576}"/>
              </a:ext>
            </a:extLst>
          </p:cNvPr>
          <p:cNvSpPr txBox="1"/>
          <p:nvPr/>
        </p:nvSpPr>
        <p:spPr>
          <a:xfrm>
            <a:off x="11631626" y="3766208"/>
            <a:ext cx="4419600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通过多方案</a:t>
            </a:r>
            <a:r>
              <a:rPr lang="zh-CN" altLang="zh-CN" sz="2400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推荐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sz="2400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投票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zh-CN" altLang="zh-CN" sz="2400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动态调整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，提高群体决策效率</a:t>
            </a:r>
            <a:endParaRPr lang="zh-CN" altLang="en-US" dirty="0"/>
          </a:p>
        </p:txBody>
      </p:sp>
      <p:sp>
        <p:nvSpPr>
          <p:cNvPr id="45" name="AutoShape 11">
            <a:extLst>
              <a:ext uri="{FF2B5EF4-FFF2-40B4-BE49-F238E27FC236}">
                <a16:creationId xmlns:a16="http://schemas.microsoft.com/office/drawing/2014/main" id="{7ED7476F-ABD4-0B88-7371-7F5000FBC3F7}"/>
              </a:ext>
            </a:extLst>
          </p:cNvPr>
          <p:cNvSpPr/>
          <p:nvPr/>
        </p:nvSpPr>
        <p:spPr>
          <a:xfrm flipH="1">
            <a:off x="6172199" y="2633725"/>
            <a:ext cx="1" cy="22695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360E405C-4768-34CA-1311-AFCBED44EE65}"/>
              </a:ext>
            </a:extLst>
          </p:cNvPr>
          <p:cNvSpPr/>
          <p:nvPr/>
        </p:nvSpPr>
        <p:spPr>
          <a:xfrm>
            <a:off x="11101197" y="2633725"/>
            <a:ext cx="23989" cy="22695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D7A146DF-4C7D-1588-9D0B-2938B82D7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49276"/>
              </p:ext>
            </p:extLst>
          </p:nvPr>
        </p:nvGraphicFramePr>
        <p:xfrm>
          <a:off x="6781800" y="5925495"/>
          <a:ext cx="11734800" cy="319158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48001">
                  <a:extLst>
                    <a:ext uri="{9D8B030D-6E8A-4147-A177-3AD203B41FA5}">
                      <a16:colId xmlns:a16="http://schemas.microsoft.com/office/drawing/2014/main" val="4180518380"/>
                    </a:ext>
                  </a:extLst>
                </a:gridCol>
                <a:gridCol w="8686799">
                  <a:extLst>
                    <a:ext uri="{9D8B030D-6E8A-4147-A177-3AD203B41FA5}">
                      <a16:colId xmlns:a16="http://schemas.microsoft.com/office/drawing/2014/main" val="2859128461"/>
                    </a:ext>
                  </a:extLst>
                </a:gridCol>
              </a:tblGrid>
              <a:tr h="6357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800" b="1" dirty="0">
                          <a:solidFill>
                            <a:srgbClr val="EF4434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800" b="1" dirty="0">
                          <a:solidFill>
                            <a:srgbClr val="EF4434"/>
                          </a:solidFill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功能说明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5457254"/>
                  </a:ext>
                </a:extLst>
              </a:tr>
              <a:tr h="6357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集合活动管理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 dirty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创建活动、邀请与加入集合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096217"/>
                  </a:ext>
                </a:extLst>
              </a:tr>
              <a:tr h="6357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 dirty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成员需求管理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 dirty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提交出发位置、交通方式、活动偏好与隐私设置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159537"/>
                  </a:ext>
                </a:extLst>
              </a:tr>
              <a:tr h="6357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 dirty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智能地点推荐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 dirty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提供并比较不同侧重点的 Top3 候选集合点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909058"/>
                  </a:ext>
                </a:extLst>
              </a:tr>
              <a:tr h="63573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 dirty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群体协同决策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sz="2400" b="0" dirty="0"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组织投票、自动确定地点、重新推荐与一键导航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562945"/>
                  </a:ext>
                </a:extLst>
              </a:tr>
            </a:tbl>
          </a:graphicData>
        </a:graphic>
      </p:graphicFrame>
      <p:sp>
        <p:nvSpPr>
          <p:cNvPr id="50" name="Freeform 12">
            <a:extLst>
              <a:ext uri="{FF2B5EF4-FFF2-40B4-BE49-F238E27FC236}">
                <a16:creationId xmlns:a16="http://schemas.microsoft.com/office/drawing/2014/main" id="{F39A3BDE-CE4B-F2F2-D877-81C48C6D9366}"/>
              </a:ext>
            </a:extLst>
          </p:cNvPr>
          <p:cNvSpPr/>
          <p:nvPr/>
        </p:nvSpPr>
        <p:spPr>
          <a:xfrm rot="5400000">
            <a:off x="6745448" y="4991100"/>
            <a:ext cx="736376" cy="736376"/>
          </a:xfrm>
          <a:custGeom>
            <a:avLst/>
            <a:gdLst/>
            <a:ahLst/>
            <a:cxnLst/>
            <a:rect l="l" t="t" r="r" b="b"/>
            <a:pathLst>
              <a:path w="736376" h="736376">
                <a:moveTo>
                  <a:pt x="0" y="0"/>
                </a:moveTo>
                <a:lnTo>
                  <a:pt x="736377" y="0"/>
                </a:lnTo>
                <a:lnTo>
                  <a:pt x="736377" y="736376"/>
                </a:lnTo>
                <a:lnTo>
                  <a:pt x="0" y="7363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146007-22D3-946B-CF3A-C6B24625788B}"/>
              </a:ext>
            </a:extLst>
          </p:cNvPr>
          <p:cNvSpPr txBox="1"/>
          <p:nvPr/>
        </p:nvSpPr>
        <p:spPr>
          <a:xfrm>
            <a:off x="7583648" y="5036122"/>
            <a:ext cx="92694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主要功能模块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297D6F8-CF19-16B0-D137-40F7748EF140}"/>
              </a:ext>
            </a:extLst>
          </p:cNvPr>
          <p:cNvSpPr txBox="1"/>
          <p:nvPr/>
        </p:nvSpPr>
        <p:spPr>
          <a:xfrm>
            <a:off x="6686868" y="9334500"/>
            <a:ext cx="102572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输入需求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智能推荐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成员投票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确认导航</a:t>
            </a:r>
          </a:p>
        </p:txBody>
      </p:sp>
      <p:sp>
        <p:nvSpPr>
          <p:cNvPr id="56" name="Freeform 8">
            <a:extLst>
              <a:ext uri="{FF2B5EF4-FFF2-40B4-BE49-F238E27FC236}">
                <a16:creationId xmlns:a16="http://schemas.microsoft.com/office/drawing/2014/main" id="{9208ED75-14BA-A58E-B27B-12057BE34B4F}"/>
              </a:ext>
            </a:extLst>
          </p:cNvPr>
          <p:cNvSpPr/>
          <p:nvPr/>
        </p:nvSpPr>
        <p:spPr>
          <a:xfrm rot="5400000">
            <a:off x="11338195" y="9448238"/>
            <a:ext cx="424871" cy="424871"/>
          </a:xfrm>
          <a:custGeom>
            <a:avLst/>
            <a:gdLst/>
            <a:ahLst/>
            <a:cxnLst/>
            <a:rect l="l" t="t" r="r" b="b"/>
            <a:pathLst>
              <a:path w="566495" h="566495">
                <a:moveTo>
                  <a:pt x="0" y="0"/>
                </a:moveTo>
                <a:lnTo>
                  <a:pt x="566495" y="0"/>
                </a:lnTo>
                <a:lnTo>
                  <a:pt x="566495" y="566494"/>
                </a:lnTo>
                <a:lnTo>
                  <a:pt x="0" y="566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8">
            <a:extLst>
              <a:ext uri="{FF2B5EF4-FFF2-40B4-BE49-F238E27FC236}">
                <a16:creationId xmlns:a16="http://schemas.microsoft.com/office/drawing/2014/main" id="{9BAEFA73-03C3-525F-2F5E-4D74E6C7D19B}"/>
              </a:ext>
            </a:extLst>
          </p:cNvPr>
          <p:cNvSpPr/>
          <p:nvPr/>
        </p:nvSpPr>
        <p:spPr>
          <a:xfrm rot="5400000">
            <a:off x="8715066" y="9479411"/>
            <a:ext cx="424871" cy="424871"/>
          </a:xfrm>
          <a:custGeom>
            <a:avLst/>
            <a:gdLst/>
            <a:ahLst/>
            <a:cxnLst/>
            <a:rect l="l" t="t" r="r" b="b"/>
            <a:pathLst>
              <a:path w="566495" h="566495">
                <a:moveTo>
                  <a:pt x="0" y="0"/>
                </a:moveTo>
                <a:lnTo>
                  <a:pt x="566495" y="0"/>
                </a:lnTo>
                <a:lnTo>
                  <a:pt x="566495" y="566494"/>
                </a:lnTo>
                <a:lnTo>
                  <a:pt x="0" y="566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8">
            <a:extLst>
              <a:ext uri="{FF2B5EF4-FFF2-40B4-BE49-F238E27FC236}">
                <a16:creationId xmlns:a16="http://schemas.microsoft.com/office/drawing/2014/main" id="{129AEC88-9BDE-1950-0A9F-3E8C340C3D3B}"/>
              </a:ext>
            </a:extLst>
          </p:cNvPr>
          <p:cNvSpPr/>
          <p:nvPr/>
        </p:nvSpPr>
        <p:spPr>
          <a:xfrm rot="5400000">
            <a:off x="13972310" y="9454659"/>
            <a:ext cx="424871" cy="424871"/>
          </a:xfrm>
          <a:custGeom>
            <a:avLst/>
            <a:gdLst/>
            <a:ahLst/>
            <a:cxnLst/>
            <a:rect l="l" t="t" r="r" b="b"/>
            <a:pathLst>
              <a:path w="566495" h="566495">
                <a:moveTo>
                  <a:pt x="0" y="0"/>
                </a:moveTo>
                <a:lnTo>
                  <a:pt x="566495" y="0"/>
                </a:lnTo>
                <a:lnTo>
                  <a:pt x="566495" y="566494"/>
                </a:lnTo>
                <a:lnTo>
                  <a:pt x="0" y="566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6F521CA-5305-CBD4-905E-ABED813E39CB}"/>
              </a:ext>
            </a:extLst>
          </p:cNvPr>
          <p:cNvSpPr/>
          <p:nvPr/>
        </p:nvSpPr>
        <p:spPr>
          <a:xfrm>
            <a:off x="6705044" y="5935620"/>
            <a:ext cx="10501876" cy="3246480"/>
          </a:xfrm>
          <a:prstGeom prst="rect">
            <a:avLst/>
          </a:prstGeom>
          <a:noFill/>
          <a:ln w="38100">
            <a:solidFill>
              <a:srgbClr val="EF4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形 39">
            <a:extLst>
              <a:ext uri="{FF2B5EF4-FFF2-40B4-BE49-F238E27FC236}">
                <a16:creationId xmlns:a16="http://schemas.microsoft.com/office/drawing/2014/main" id="{89FF9CD1-0324-11CA-5268-83B7D155A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3000" y="65590"/>
            <a:ext cx="8630653" cy="1018120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184D334-671B-D489-F215-CB43A429EC0F}"/>
              </a:ext>
            </a:extLst>
          </p:cNvPr>
          <p:cNvSpPr txBox="1"/>
          <p:nvPr/>
        </p:nvSpPr>
        <p:spPr>
          <a:xfrm>
            <a:off x="398057" y="190500"/>
            <a:ext cx="1735543" cy="1595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zh-CN" altLang="en-US" sz="977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EA1549-85B8-01F2-DF8B-D88FC1C90D29}"/>
              </a:ext>
            </a:extLst>
          </p:cNvPr>
          <p:cNvSpPr txBox="1"/>
          <p:nvPr/>
        </p:nvSpPr>
        <p:spPr>
          <a:xfrm>
            <a:off x="1752600" y="113261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系统边界与外部角色之间的业务交互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4BC79EF-BCCB-0FBF-85B1-A5650783CB78}"/>
              </a:ext>
            </a:extLst>
          </p:cNvPr>
          <p:cNvSpPr txBox="1"/>
          <p:nvPr/>
        </p:nvSpPr>
        <p:spPr>
          <a:xfrm>
            <a:off x="1752600" y="394383"/>
            <a:ext cx="92694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dirty="0" err="1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MeetPoint</a:t>
            </a:r>
            <a:r>
              <a:rPr lang="zh-CN" altLang="en-US" sz="4800" b="1" dirty="0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整体需求用例图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0B91D61-0F1F-910B-9672-C6C66867BE38}"/>
              </a:ext>
            </a:extLst>
          </p:cNvPr>
          <p:cNvSpPr txBox="1"/>
          <p:nvPr/>
        </p:nvSpPr>
        <p:spPr>
          <a:xfrm>
            <a:off x="599966" y="2552700"/>
            <a:ext cx="9273472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系统参与者</a:t>
            </a:r>
            <a:endParaRPr lang="en-US" altLang="zh-CN" sz="24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集合发起者、集合参与者、系统管理员、第三方地图服务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系统主要用例</a:t>
            </a:r>
            <a:endParaRPr lang="en-US" altLang="zh-CN" sz="24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DEEECA3-38B3-CF73-86E6-043D5E0BC9D6}"/>
              </a:ext>
            </a:extLst>
          </p:cNvPr>
          <p:cNvSpPr txBox="1"/>
          <p:nvPr/>
        </p:nvSpPr>
        <p:spPr>
          <a:xfrm>
            <a:off x="914400" y="4220464"/>
            <a:ext cx="7924800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创建活动、收集出行需求、控制位置公开、获取集合点推荐、投票决策、动态调整、查看结果与导航</a:t>
            </a:r>
            <a:endParaRPr lang="zh-CN" altLang="en-US" b="1" dirty="0"/>
          </a:p>
        </p:txBody>
      </p:sp>
      <p:grpSp>
        <p:nvGrpSpPr>
          <p:cNvPr id="35" name="Group 3">
            <a:extLst>
              <a:ext uri="{FF2B5EF4-FFF2-40B4-BE49-F238E27FC236}">
                <a16:creationId xmlns:a16="http://schemas.microsoft.com/office/drawing/2014/main" id="{AD40768D-E18F-FE7D-88FD-7E323849ABD2}"/>
              </a:ext>
            </a:extLst>
          </p:cNvPr>
          <p:cNvGrpSpPr/>
          <p:nvPr/>
        </p:nvGrpSpPr>
        <p:grpSpPr>
          <a:xfrm>
            <a:off x="128571" y="6084031"/>
            <a:ext cx="3347050" cy="3250469"/>
            <a:chOff x="76200" y="28575"/>
            <a:chExt cx="998593" cy="969778"/>
          </a:xfrm>
        </p:grpSpPr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6FB0C450-9009-79C0-416C-D58810324286}"/>
                </a:ext>
              </a:extLst>
            </p:cNvPr>
            <p:cNvSpPr/>
            <p:nvPr/>
          </p:nvSpPr>
          <p:spPr>
            <a:xfrm>
              <a:off x="261993" y="185553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843"/>
            </a:solidFill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7" name="TextBox 5">
              <a:extLst>
                <a:ext uri="{FF2B5EF4-FFF2-40B4-BE49-F238E27FC236}">
                  <a16:creationId xmlns:a16="http://schemas.microsoft.com/office/drawing/2014/main" id="{F7CA3842-9406-5593-0C0F-D1BA84EE3F6F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8"/>
                </a:lnSpc>
              </a:pPr>
              <a:endParaRPr/>
            </a:p>
          </p:txBody>
        </p:sp>
      </p:grpSp>
      <p:sp>
        <p:nvSpPr>
          <p:cNvPr id="38" name="Freeform 6">
            <a:extLst>
              <a:ext uri="{FF2B5EF4-FFF2-40B4-BE49-F238E27FC236}">
                <a16:creationId xmlns:a16="http://schemas.microsoft.com/office/drawing/2014/main" id="{E96DF19A-9EE2-E6BA-EA2C-A9469D872EF6}"/>
              </a:ext>
            </a:extLst>
          </p:cNvPr>
          <p:cNvSpPr/>
          <p:nvPr/>
        </p:nvSpPr>
        <p:spPr>
          <a:xfrm flipH="1">
            <a:off x="1981200" y="6533664"/>
            <a:ext cx="5106886" cy="3713132"/>
          </a:xfrm>
          <a:custGeom>
            <a:avLst/>
            <a:gdLst/>
            <a:ahLst/>
            <a:cxnLst/>
            <a:rect l="l" t="t" r="r" b="b"/>
            <a:pathLst>
              <a:path w="7011414" h="5097882">
                <a:moveTo>
                  <a:pt x="7011414" y="0"/>
                </a:moveTo>
                <a:lnTo>
                  <a:pt x="0" y="0"/>
                </a:lnTo>
                <a:lnTo>
                  <a:pt x="0" y="5097882"/>
                </a:lnTo>
                <a:lnTo>
                  <a:pt x="7011414" y="5097882"/>
                </a:lnTo>
                <a:lnTo>
                  <a:pt x="7011414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形 32">
            <a:extLst>
              <a:ext uri="{FF2B5EF4-FFF2-40B4-BE49-F238E27FC236}">
                <a16:creationId xmlns:a16="http://schemas.microsoft.com/office/drawing/2014/main" id="{1CA164AD-605E-36E3-56ED-7D8B74C31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379" y="1446697"/>
            <a:ext cx="8924621" cy="6796155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685801" y="382365"/>
            <a:ext cx="1401286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9773"/>
              </a:lnSpc>
              <a:spcBef>
                <a:spcPct val="0"/>
              </a:spcBef>
            </a:pPr>
            <a:r>
              <a:rPr lang="en-US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ileron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3613" y="2235654"/>
            <a:ext cx="8000999" cy="1159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集合发起者</a:t>
            </a:r>
            <a:r>
              <a:rPr lang="zh-CN" altLang="en-US" sz="2199" dirty="0">
                <a:solidFill>
                  <a:srgbClr val="1F191A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创建集合活动并邀请其他成员加入</a:t>
            </a:r>
            <a:endParaRPr lang="en-US" altLang="zh-CN" sz="2199" dirty="0">
              <a:solidFill>
                <a:srgbClr val="1F191A"/>
              </a:solidFill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  <a:p>
            <a:pPr marL="0" lvl="0" indent="0"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集合参与者</a:t>
            </a:r>
            <a:r>
              <a:rPr lang="zh-CN" altLang="en-US" sz="2199" dirty="0">
                <a:solidFill>
                  <a:srgbClr val="1F191A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根据自身实际情况提交出发地、交通方式、活动偏好等信息，系统完成多人需求收集，为后续地点推荐提供依据</a:t>
            </a:r>
            <a:endParaRPr lang="en-US" sz="2199" dirty="0">
              <a:solidFill>
                <a:srgbClr val="1F191A"/>
              </a:solidFill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</p:txBody>
      </p:sp>
      <p:sp>
        <p:nvSpPr>
          <p:cNvPr id="19" name="TextBox 2">
            <a:extLst>
              <a:ext uri="{FF2B5EF4-FFF2-40B4-BE49-F238E27FC236}">
                <a16:creationId xmlns:a16="http://schemas.microsoft.com/office/drawing/2014/main" id="{8B973525-F8EF-612F-52B3-EFA79CE08DD7}"/>
              </a:ext>
            </a:extLst>
          </p:cNvPr>
          <p:cNvSpPr txBox="1"/>
          <p:nvPr/>
        </p:nvSpPr>
        <p:spPr>
          <a:xfrm>
            <a:off x="2087087" y="-38100"/>
            <a:ext cx="2669807" cy="1046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73"/>
              </a:lnSpc>
              <a:spcBef>
                <a:spcPct val="0"/>
              </a:spcBef>
            </a:pPr>
            <a:r>
              <a:rPr lang="zh-CN" altLang="en-US" sz="4800" b="1" u="none" strike="noStrike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重点用例</a:t>
            </a:r>
            <a:endParaRPr lang="en-US" sz="4800" b="1" u="none" strike="noStrike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679652DD-0750-F142-CF12-D5ED04991EBA}"/>
              </a:ext>
            </a:extLst>
          </p:cNvPr>
          <p:cNvSpPr txBox="1"/>
          <p:nvPr/>
        </p:nvSpPr>
        <p:spPr>
          <a:xfrm>
            <a:off x="2087088" y="409585"/>
            <a:ext cx="3170712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73"/>
              </a:lnSpc>
              <a:spcBef>
                <a:spcPct val="0"/>
              </a:spcBef>
            </a:pPr>
            <a:r>
              <a:rPr lang="zh-CN" altLang="en-US" sz="2400" b="1" u="none" strike="noStrike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创建集合与提交需求</a:t>
            </a:r>
            <a:endParaRPr lang="en-US" sz="2400" b="1" u="none" strike="noStrike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67A0191-9870-993D-84BD-8AFF9F7D8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443908"/>
              </p:ext>
            </p:extLst>
          </p:nvPr>
        </p:nvGraphicFramePr>
        <p:xfrm>
          <a:off x="9448800" y="3758835"/>
          <a:ext cx="8458200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84990430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3387849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b="1" dirty="0">
                          <a:solidFill>
                            <a:srgbClr val="EF4434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400" b="1" dirty="0">
                          <a:solidFill>
                            <a:srgbClr val="EF4434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134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主要参与者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集合发起者、集合参与者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91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前置条件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已创建集合活动，参与者能够加入活动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05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基本流程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创建活动 → 邀请成员 → 加入活动 → 提交个人出行需求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938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备选流程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出发信息缺失时提示补充；参与者可修改已提交的信息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10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隐私要求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成员自主选择是否向其他成员公开出发地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17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后置条件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形成集合推荐所需的有效成员需求信息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857025"/>
                  </a:ext>
                </a:extLst>
              </a:tr>
            </a:tbl>
          </a:graphicData>
        </a:graphic>
      </p:graphicFrame>
      <p:sp>
        <p:nvSpPr>
          <p:cNvPr id="17" name="Freeform 11">
            <a:extLst>
              <a:ext uri="{FF2B5EF4-FFF2-40B4-BE49-F238E27FC236}">
                <a16:creationId xmlns:a16="http://schemas.microsoft.com/office/drawing/2014/main" id="{A56F9C54-3B3A-20C6-D803-103177796EF5}"/>
              </a:ext>
            </a:extLst>
          </p:cNvPr>
          <p:cNvSpPr/>
          <p:nvPr/>
        </p:nvSpPr>
        <p:spPr>
          <a:xfrm>
            <a:off x="76200" y="7745027"/>
            <a:ext cx="4604494" cy="2732473"/>
          </a:xfrm>
          <a:custGeom>
            <a:avLst/>
            <a:gdLst/>
            <a:ahLst/>
            <a:cxnLst/>
            <a:rect l="l" t="t" r="r" b="b"/>
            <a:pathLst>
              <a:path w="4437703" h="2653377">
                <a:moveTo>
                  <a:pt x="0" y="0"/>
                </a:moveTo>
                <a:lnTo>
                  <a:pt x="4437703" y="0"/>
                </a:lnTo>
                <a:lnTo>
                  <a:pt x="4437703" y="2653377"/>
                </a:lnTo>
                <a:lnTo>
                  <a:pt x="0" y="2653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F65DA19A-0DF7-32DB-D5AA-B1913A2D1A1D}"/>
              </a:ext>
            </a:extLst>
          </p:cNvPr>
          <p:cNvSpPr txBox="1"/>
          <p:nvPr/>
        </p:nvSpPr>
        <p:spPr>
          <a:xfrm>
            <a:off x="9485688" y="7048500"/>
            <a:ext cx="7936847" cy="1140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079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位置隐私自主控制</a:t>
            </a:r>
            <a:endParaRPr lang="en-US" altLang="zh-CN" sz="24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  <a:sym typeface="Open Sauce Light"/>
            </a:endParaRPr>
          </a:p>
          <a:p>
            <a:pPr marL="0" lvl="0" indent="0"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成员可选择不向其他成员公开自己的具体出发位置。</a:t>
            </a:r>
            <a:endParaRPr lang="en-US" altLang="zh-CN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  <a:p>
            <a:pPr marL="0" lvl="0" indent="0"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系统在获得相应授权后，仍可使用必要的位置数据参与推荐计算。</a:t>
            </a:r>
            <a:endParaRPr lang="en-US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DD19C9-B536-A4A0-FC5C-AE7B30980E74}"/>
              </a:ext>
            </a:extLst>
          </p:cNvPr>
          <p:cNvSpPr/>
          <p:nvPr/>
        </p:nvSpPr>
        <p:spPr>
          <a:xfrm>
            <a:off x="9464833" y="3668596"/>
            <a:ext cx="8452788" cy="3075104"/>
          </a:xfrm>
          <a:prstGeom prst="rect">
            <a:avLst/>
          </a:prstGeom>
          <a:noFill/>
          <a:ln w="28575">
            <a:solidFill>
              <a:srgbClr val="EF4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F8923-01F7-4ED1-AA4A-001A0D33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形 43">
            <a:extLst>
              <a:ext uri="{FF2B5EF4-FFF2-40B4-BE49-F238E27FC236}">
                <a16:creationId xmlns:a16="http://schemas.microsoft.com/office/drawing/2014/main" id="{65A3288D-1639-CB3B-7519-B6C9D234B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72444" y="2229434"/>
            <a:ext cx="14121362" cy="7943266"/>
          </a:xfrm>
          <a:prstGeom prst="rect">
            <a:avLst/>
          </a:prstGeom>
        </p:spPr>
      </p:pic>
      <p:sp>
        <p:nvSpPr>
          <p:cNvPr id="19" name="TextBox 2">
            <a:extLst>
              <a:ext uri="{FF2B5EF4-FFF2-40B4-BE49-F238E27FC236}">
                <a16:creationId xmlns:a16="http://schemas.microsoft.com/office/drawing/2014/main" id="{AB30F676-AE4E-CCBC-CAF0-DE0F91806D10}"/>
              </a:ext>
            </a:extLst>
          </p:cNvPr>
          <p:cNvSpPr txBox="1"/>
          <p:nvPr/>
        </p:nvSpPr>
        <p:spPr>
          <a:xfrm>
            <a:off x="2087087" y="-38100"/>
            <a:ext cx="2669807" cy="1046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73"/>
              </a:lnSpc>
              <a:spcBef>
                <a:spcPct val="0"/>
              </a:spcBef>
            </a:pPr>
            <a:r>
              <a:rPr lang="zh-CN" altLang="en-US" sz="4800" b="1" u="none" strike="noStrike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重点用例</a:t>
            </a:r>
            <a:endParaRPr lang="en-US" sz="4800" b="1" u="none" strike="noStrike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F44323D4-FD27-40DA-A717-3EE570CDEEB3}"/>
              </a:ext>
            </a:extLst>
          </p:cNvPr>
          <p:cNvSpPr txBox="1"/>
          <p:nvPr/>
        </p:nvSpPr>
        <p:spPr>
          <a:xfrm>
            <a:off x="2087088" y="409585"/>
            <a:ext cx="3170712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73"/>
              </a:lnSpc>
              <a:spcBef>
                <a:spcPct val="0"/>
              </a:spcBef>
            </a:pPr>
            <a:r>
              <a:rPr lang="zh-CN" altLang="en-US" sz="2400" b="1" u="none" strike="noStrike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集合点智能推荐</a:t>
            </a:r>
            <a:endParaRPr lang="en-US" sz="2400" b="1" u="none" strike="noStrike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D782628E-B727-8DBC-B328-327D37D5381D}"/>
              </a:ext>
            </a:extLst>
          </p:cNvPr>
          <p:cNvSpPr txBox="1"/>
          <p:nvPr/>
        </p:nvSpPr>
        <p:spPr>
          <a:xfrm>
            <a:off x="448785" y="5645241"/>
            <a:ext cx="4360229" cy="2012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079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用户需要获得：</a:t>
            </a:r>
          </a:p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n-US" altLang="zh-CN" sz="2199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  </a:t>
            </a:r>
            <a:r>
              <a:rPr lang="en-US" altLang="zh-CN" sz="2199" dirty="0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Top3 </a:t>
            </a:r>
            <a:r>
              <a:rPr lang="zh-CN" altLang="en-US" sz="2199" dirty="0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候选地点</a:t>
            </a:r>
            <a:r>
              <a:rPr lang="zh-CN" altLang="en-US" sz="2199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及其地图位置</a:t>
            </a:r>
          </a:p>
          <a:p>
            <a:pPr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  不同方案下的成员</a:t>
            </a:r>
            <a:r>
              <a:rPr lang="zh-CN" altLang="en-US" sz="2199" dirty="0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出行成本比较</a:t>
            </a:r>
          </a:p>
          <a:p>
            <a:pPr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  各候选方案的</a:t>
            </a:r>
            <a:r>
              <a:rPr lang="zh-CN" altLang="en-US" sz="2199" dirty="0">
                <a:solidFill>
                  <a:srgbClr val="EF443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推荐理由</a:t>
            </a:r>
          </a:p>
          <a:p>
            <a:pPr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  偏好变化后重新获得推荐的能力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D49AB86B-38FF-A99F-0312-7F5ADB14177B}"/>
              </a:ext>
            </a:extLst>
          </p:cNvPr>
          <p:cNvSpPr/>
          <p:nvPr/>
        </p:nvSpPr>
        <p:spPr>
          <a:xfrm>
            <a:off x="762000" y="3381431"/>
            <a:ext cx="1524001" cy="481775"/>
          </a:xfrm>
          <a:custGeom>
            <a:avLst/>
            <a:gdLst/>
            <a:ahLst/>
            <a:cxnLst/>
            <a:rect l="l" t="t" r="r" b="b"/>
            <a:pathLst>
              <a:path w="1733465" h="406400">
                <a:moveTo>
                  <a:pt x="1530265" y="0"/>
                </a:moveTo>
                <a:cubicBezTo>
                  <a:pt x="1642489" y="0"/>
                  <a:pt x="1733465" y="90976"/>
                  <a:pt x="1733465" y="203200"/>
                </a:cubicBezTo>
                <a:cubicBezTo>
                  <a:pt x="1733465" y="315424"/>
                  <a:pt x="1642489" y="406400"/>
                  <a:pt x="153026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EF443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BEF86B0-C81B-0ED8-5A5C-84C008B39C35}"/>
              </a:ext>
            </a:extLst>
          </p:cNvPr>
          <p:cNvSpPr txBox="1"/>
          <p:nvPr/>
        </p:nvSpPr>
        <p:spPr>
          <a:xfrm>
            <a:off x="762000" y="3262249"/>
            <a:ext cx="1524001" cy="549524"/>
          </a:xfrm>
          <a:prstGeom prst="rect">
            <a:avLst/>
          </a:prstGeom>
          <a:ln>
            <a:noFill/>
          </a:ln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231"/>
              </a:lnSpc>
              <a:spcBef>
                <a:spcPct val="0"/>
              </a:spcBef>
            </a:pPr>
            <a:r>
              <a:rPr lang="zh-CN" altLang="en-US" sz="2000" b="1" u="none" strike="noStrike" spc="-30" dirty="0">
                <a:solidFill>
                  <a:srgbClr val="EF4434"/>
                </a:solidFill>
                <a:latin typeface="Arial" panose="020B0604020202020204" pitchFamily="34" charset="0"/>
                <a:ea typeface="Open Sauce"/>
                <a:cs typeface="Open Sauce"/>
                <a:sym typeface="Open Sauce"/>
              </a:rPr>
              <a:t>最公平</a:t>
            </a:r>
            <a:endParaRPr lang="en-US" sz="2000" b="1" u="none" strike="noStrike" spc="-30" dirty="0">
              <a:solidFill>
                <a:srgbClr val="EF4434"/>
              </a:solidFill>
              <a:latin typeface="Arial" panose="020B0604020202020204" pitchFamily="3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06DC8B6-FE6E-EDA1-0F1B-E28D887FCF6D}"/>
              </a:ext>
            </a:extLst>
          </p:cNvPr>
          <p:cNvSpPr txBox="1"/>
          <p:nvPr/>
        </p:nvSpPr>
        <p:spPr>
          <a:xfrm>
            <a:off x="448785" y="1639119"/>
            <a:ext cx="17581297" cy="743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3079"/>
              </a:lnSpc>
              <a:spcBef>
                <a:spcPct val="0"/>
              </a:spcBef>
            </a:pP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系统</a:t>
            </a: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综合所有参与者的出发地、交通方式、活动偏好和必要约束，推荐具有不同侧重点的</a:t>
            </a: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候选集合点</a:t>
            </a: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，并展示相关出行成本与推荐理由，帮助成员比较和选择</a:t>
            </a:r>
            <a:endParaRPr lang="en-US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6DFFF122-B7CD-87F5-9F84-51E5199B5DE6}"/>
              </a:ext>
            </a:extLst>
          </p:cNvPr>
          <p:cNvSpPr txBox="1"/>
          <p:nvPr/>
        </p:nvSpPr>
        <p:spPr>
          <a:xfrm>
            <a:off x="2523014" y="3449449"/>
            <a:ext cx="4038600" cy="338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重点平衡成员间的出行负担差异</a:t>
            </a:r>
            <a:endParaRPr lang="en-US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</p:txBody>
      </p:sp>
      <p:sp>
        <p:nvSpPr>
          <p:cNvPr id="29" name="Freeform 8">
            <a:extLst>
              <a:ext uri="{FF2B5EF4-FFF2-40B4-BE49-F238E27FC236}">
                <a16:creationId xmlns:a16="http://schemas.microsoft.com/office/drawing/2014/main" id="{5C1EAA41-6FB8-C826-51CE-345F26ED8D90}"/>
              </a:ext>
            </a:extLst>
          </p:cNvPr>
          <p:cNvSpPr/>
          <p:nvPr/>
        </p:nvSpPr>
        <p:spPr>
          <a:xfrm>
            <a:off x="762000" y="4031648"/>
            <a:ext cx="1524001" cy="481775"/>
          </a:xfrm>
          <a:custGeom>
            <a:avLst/>
            <a:gdLst/>
            <a:ahLst/>
            <a:cxnLst/>
            <a:rect l="l" t="t" r="r" b="b"/>
            <a:pathLst>
              <a:path w="1733465" h="406400">
                <a:moveTo>
                  <a:pt x="1530265" y="0"/>
                </a:moveTo>
                <a:cubicBezTo>
                  <a:pt x="1642489" y="0"/>
                  <a:pt x="1733465" y="90976"/>
                  <a:pt x="1733465" y="203200"/>
                </a:cubicBezTo>
                <a:cubicBezTo>
                  <a:pt x="1733465" y="315424"/>
                  <a:pt x="1642489" y="406400"/>
                  <a:pt x="153026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EF443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13E6A475-87F0-C8B1-D8D4-37816A0DE1D2}"/>
              </a:ext>
            </a:extLst>
          </p:cNvPr>
          <p:cNvSpPr txBox="1"/>
          <p:nvPr/>
        </p:nvSpPr>
        <p:spPr>
          <a:xfrm>
            <a:off x="762000" y="3912466"/>
            <a:ext cx="1524001" cy="549524"/>
          </a:xfrm>
          <a:prstGeom prst="rect">
            <a:avLst/>
          </a:prstGeom>
          <a:ln>
            <a:noFill/>
          </a:ln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231"/>
              </a:lnSpc>
              <a:spcBef>
                <a:spcPct val="0"/>
              </a:spcBef>
            </a:pPr>
            <a:r>
              <a:rPr lang="zh-CN" altLang="en-US" sz="2000" b="1" u="none" strike="noStrike" spc="-30" dirty="0">
                <a:solidFill>
                  <a:srgbClr val="EF4434"/>
                </a:solidFill>
                <a:latin typeface="Arial" panose="020B0604020202020204" pitchFamily="34" charset="0"/>
                <a:ea typeface="Open Sauce"/>
                <a:cs typeface="Open Sauce"/>
                <a:sym typeface="Open Sauce"/>
              </a:rPr>
              <a:t>最</a:t>
            </a:r>
            <a:r>
              <a:rPr lang="zh-CN" altLang="en-US" sz="2000" b="1" spc="-30" dirty="0">
                <a:solidFill>
                  <a:srgbClr val="EF4434"/>
                </a:solidFill>
                <a:latin typeface="Arial" panose="020B0604020202020204" pitchFamily="34" charset="0"/>
                <a:ea typeface="Open Sauce"/>
                <a:cs typeface="Open Sauce"/>
                <a:sym typeface="Open Sauce"/>
              </a:rPr>
              <a:t>合口味</a:t>
            </a:r>
            <a:endParaRPr lang="en-US" sz="2000" b="1" u="none" strike="noStrike" spc="-30" dirty="0">
              <a:solidFill>
                <a:srgbClr val="EF4434"/>
              </a:solidFill>
              <a:latin typeface="Arial" panose="020B0604020202020204" pitchFamily="3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33" name="Freeform 8">
            <a:extLst>
              <a:ext uri="{FF2B5EF4-FFF2-40B4-BE49-F238E27FC236}">
                <a16:creationId xmlns:a16="http://schemas.microsoft.com/office/drawing/2014/main" id="{1C428518-AC20-E971-B856-6FF08FD677CE}"/>
              </a:ext>
            </a:extLst>
          </p:cNvPr>
          <p:cNvSpPr/>
          <p:nvPr/>
        </p:nvSpPr>
        <p:spPr>
          <a:xfrm>
            <a:off x="762000" y="4661725"/>
            <a:ext cx="1524001" cy="481775"/>
          </a:xfrm>
          <a:custGeom>
            <a:avLst/>
            <a:gdLst/>
            <a:ahLst/>
            <a:cxnLst/>
            <a:rect l="l" t="t" r="r" b="b"/>
            <a:pathLst>
              <a:path w="1733465" h="406400">
                <a:moveTo>
                  <a:pt x="1530265" y="0"/>
                </a:moveTo>
                <a:cubicBezTo>
                  <a:pt x="1642489" y="0"/>
                  <a:pt x="1733465" y="90976"/>
                  <a:pt x="1733465" y="203200"/>
                </a:cubicBezTo>
                <a:cubicBezTo>
                  <a:pt x="1733465" y="315424"/>
                  <a:pt x="1642489" y="406400"/>
                  <a:pt x="1530265" y="406400"/>
                </a:cubicBezTo>
                <a:lnTo>
                  <a:pt x="203200" y="406400"/>
                </a:lnTo>
                <a:cubicBezTo>
                  <a:pt x="90976" y="406400"/>
                  <a:pt x="0" y="315424"/>
                  <a:pt x="0" y="203200"/>
                </a:cubicBezTo>
                <a:cubicBezTo>
                  <a:pt x="0" y="9097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EF4434"/>
            </a:solidFill>
            <a:prstDash val="solid"/>
            <a:miter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C1C42D45-0DC6-7C1B-AEDD-C68F29E41F68}"/>
              </a:ext>
            </a:extLst>
          </p:cNvPr>
          <p:cNvSpPr txBox="1"/>
          <p:nvPr/>
        </p:nvSpPr>
        <p:spPr>
          <a:xfrm>
            <a:off x="762000" y="4542543"/>
            <a:ext cx="1524001" cy="549524"/>
          </a:xfrm>
          <a:prstGeom prst="rect">
            <a:avLst/>
          </a:prstGeom>
          <a:ln>
            <a:noFill/>
          </a:ln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231"/>
              </a:lnSpc>
              <a:spcBef>
                <a:spcPct val="0"/>
              </a:spcBef>
            </a:pPr>
            <a:r>
              <a:rPr lang="zh-CN" altLang="en-US" sz="2000" b="1" u="none" strike="noStrike" spc="-30" dirty="0">
                <a:solidFill>
                  <a:srgbClr val="EF4434"/>
                </a:solidFill>
                <a:latin typeface="Arial" panose="020B0604020202020204" pitchFamily="34" charset="0"/>
                <a:ea typeface="Open Sauce"/>
                <a:cs typeface="Open Sauce"/>
                <a:sym typeface="Open Sauce"/>
              </a:rPr>
              <a:t>最方便</a:t>
            </a:r>
            <a:endParaRPr lang="en-US" sz="2000" b="1" u="none" strike="noStrike" spc="-30" dirty="0">
              <a:solidFill>
                <a:srgbClr val="EF4434"/>
              </a:solidFill>
              <a:latin typeface="Arial" panose="020B0604020202020204" pitchFamily="34" charset="0"/>
              <a:ea typeface="Open Sauce"/>
              <a:cs typeface="Open Sauce"/>
              <a:sym typeface="Open Sauce"/>
            </a:endParaRP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80D9B85C-3B37-FAD6-252F-01AB60A0125B}"/>
              </a:ext>
            </a:extLst>
          </p:cNvPr>
          <p:cNvSpPr txBox="1"/>
          <p:nvPr/>
        </p:nvSpPr>
        <p:spPr>
          <a:xfrm>
            <a:off x="2523014" y="4090249"/>
            <a:ext cx="4038600" cy="338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重点满足成员的活动偏好与预算</a:t>
            </a:r>
            <a:endParaRPr lang="en-US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ED73675B-F37B-B319-8B4D-9AB182BDA806}"/>
              </a:ext>
            </a:extLst>
          </p:cNvPr>
          <p:cNvSpPr txBox="1"/>
          <p:nvPr/>
        </p:nvSpPr>
        <p:spPr>
          <a:xfrm>
            <a:off x="2494940" y="4731049"/>
            <a:ext cx="4523874" cy="338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00000"/>
              </a:lnSpc>
              <a:spcBef>
                <a:spcPct val="0"/>
              </a:spcBef>
            </a:pP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重点考虑整体交通便利性和可达性</a:t>
            </a:r>
            <a:endParaRPr lang="en-US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</p:txBody>
      </p:sp>
      <p:sp>
        <p:nvSpPr>
          <p:cNvPr id="40" name="TextBox 9">
            <a:extLst>
              <a:ext uri="{FF2B5EF4-FFF2-40B4-BE49-F238E27FC236}">
                <a16:creationId xmlns:a16="http://schemas.microsoft.com/office/drawing/2014/main" id="{01AA6F90-578B-7CC1-D4A5-E9A68AC50747}"/>
              </a:ext>
            </a:extLst>
          </p:cNvPr>
          <p:cNvSpPr txBox="1"/>
          <p:nvPr/>
        </p:nvSpPr>
        <p:spPr>
          <a:xfrm>
            <a:off x="448785" y="2733788"/>
            <a:ext cx="4199414" cy="3500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079"/>
              </a:lnSpc>
              <a:spcBef>
                <a:spcPct val="0"/>
              </a:spcBef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三类推荐方案</a:t>
            </a:r>
            <a:endParaRPr lang="en-US" altLang="zh-CN" sz="2400" b="1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Freeform 14">
            <a:extLst>
              <a:ext uri="{FF2B5EF4-FFF2-40B4-BE49-F238E27FC236}">
                <a16:creationId xmlns:a16="http://schemas.microsoft.com/office/drawing/2014/main" id="{F401B983-9A05-1D36-F007-35D48B1577D9}"/>
              </a:ext>
            </a:extLst>
          </p:cNvPr>
          <p:cNvSpPr/>
          <p:nvPr/>
        </p:nvSpPr>
        <p:spPr>
          <a:xfrm rot="20753934">
            <a:off x="15755542" y="2142068"/>
            <a:ext cx="1761731" cy="2860728"/>
          </a:xfrm>
          <a:custGeom>
            <a:avLst/>
            <a:gdLst/>
            <a:ahLst/>
            <a:cxnLst/>
            <a:rect l="l" t="t" r="r" b="b"/>
            <a:pathLst>
              <a:path w="1761731" h="2860728">
                <a:moveTo>
                  <a:pt x="0" y="0"/>
                </a:moveTo>
                <a:lnTo>
                  <a:pt x="1761731" y="0"/>
                </a:lnTo>
                <a:lnTo>
                  <a:pt x="1761731" y="2860728"/>
                </a:lnTo>
                <a:lnTo>
                  <a:pt x="0" y="2860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ABA068C-1DAA-58B8-F995-C8083CC04837}"/>
              </a:ext>
            </a:extLst>
          </p:cNvPr>
          <p:cNvSpPr txBox="1"/>
          <p:nvPr/>
        </p:nvSpPr>
        <p:spPr>
          <a:xfrm>
            <a:off x="685801" y="382365"/>
            <a:ext cx="1401286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9773"/>
              </a:lnSpc>
              <a:spcBef>
                <a:spcPct val="0"/>
              </a:spcBef>
            </a:pPr>
            <a:r>
              <a:rPr lang="en-US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ile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90079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39463-3ABB-3D7C-FE46-B6428AD0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形 50">
            <a:extLst>
              <a:ext uri="{FF2B5EF4-FFF2-40B4-BE49-F238E27FC236}">
                <a16:creationId xmlns:a16="http://schemas.microsoft.com/office/drawing/2014/main" id="{18FBAF4F-C90C-77F0-7D06-6E77652904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" y="2977733"/>
            <a:ext cx="10744200" cy="6890167"/>
          </a:xfrm>
          <a:prstGeom prst="rect">
            <a:avLst/>
          </a:prstGeom>
        </p:spPr>
      </p:pic>
      <p:sp>
        <p:nvSpPr>
          <p:cNvPr id="19" name="TextBox 2">
            <a:extLst>
              <a:ext uri="{FF2B5EF4-FFF2-40B4-BE49-F238E27FC236}">
                <a16:creationId xmlns:a16="http://schemas.microsoft.com/office/drawing/2014/main" id="{0C8EAA7C-21DA-B33A-7C51-5159897FAABC}"/>
              </a:ext>
            </a:extLst>
          </p:cNvPr>
          <p:cNvSpPr txBox="1"/>
          <p:nvPr/>
        </p:nvSpPr>
        <p:spPr>
          <a:xfrm>
            <a:off x="2087087" y="-38100"/>
            <a:ext cx="2669807" cy="1046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73"/>
              </a:lnSpc>
              <a:spcBef>
                <a:spcPct val="0"/>
              </a:spcBef>
            </a:pPr>
            <a:r>
              <a:rPr lang="zh-CN" altLang="en-US" sz="4800" b="1" u="none" strike="noStrike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重点用例</a:t>
            </a:r>
            <a:endParaRPr lang="en-US" sz="4800" b="1" u="none" strike="noStrike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AFB79311-6A85-59B8-C716-7921E2DA36A3}"/>
              </a:ext>
            </a:extLst>
          </p:cNvPr>
          <p:cNvSpPr txBox="1"/>
          <p:nvPr/>
        </p:nvSpPr>
        <p:spPr>
          <a:xfrm>
            <a:off x="2087088" y="409585"/>
            <a:ext cx="3170712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73"/>
              </a:lnSpc>
              <a:spcBef>
                <a:spcPct val="0"/>
              </a:spcBef>
            </a:pPr>
            <a:r>
              <a:rPr lang="zh-CN" altLang="en-US" sz="2400" b="1" u="none" strike="noStrike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投票决策与动态调整</a:t>
            </a:r>
            <a:endParaRPr lang="en-US" sz="2400" b="1" u="none" strike="noStrike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8134D5-EFCF-B102-4F20-449431195C50}"/>
              </a:ext>
            </a:extLst>
          </p:cNvPr>
          <p:cNvSpPr txBox="1"/>
          <p:nvPr/>
        </p:nvSpPr>
        <p:spPr>
          <a:xfrm>
            <a:off x="478103" y="1556245"/>
            <a:ext cx="17581297" cy="1164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20000"/>
              </a:lnSpc>
              <a:spcBef>
                <a:spcPct val="0"/>
              </a:spcBef>
            </a:pP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系统</a:t>
            </a: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向</a:t>
            </a: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参与者</a:t>
            </a: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展示候选集合点，成员根据自身需求参与投票</a:t>
            </a:r>
            <a:endParaRPr lang="en-US" altLang="zh-CN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</a:pP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满足约定的投票结束条件后，系统按照投票规则自动确定最终集合地点，成员可以查看最终结果并发起</a:t>
            </a: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导航</a:t>
            </a:r>
            <a:endParaRPr lang="en-US" altLang="zh-CN" sz="2199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</a:pP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当成员需求</a:t>
            </a:r>
            <a:r>
              <a:rPr lang="zh-CN" altLang="en-US" sz="2199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发生变化</a:t>
            </a:r>
            <a:r>
              <a:rPr lang="zh-CN" altLang="en-US" sz="2199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时，系统支持重新推荐候选地点，并开展新一轮投票</a:t>
            </a:r>
            <a:endParaRPr lang="en-US" sz="2199" dirty="0">
              <a:latin typeface="黑体" panose="02010609060101010101" pitchFamily="49" charset="-122"/>
              <a:ea typeface="黑体" panose="02010609060101010101" pitchFamily="49" charset="-122"/>
              <a:cs typeface="Open Sauce Light"/>
              <a:sym typeface="Open Sauce Light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F599AC1-9A24-3AE4-040B-66D0F736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905227"/>
              </p:ext>
            </p:extLst>
          </p:nvPr>
        </p:nvGraphicFramePr>
        <p:xfrm>
          <a:off x="10287000" y="3800693"/>
          <a:ext cx="7772400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54724">
                  <a:extLst>
                    <a:ext uri="{9D8B030D-6E8A-4147-A177-3AD203B41FA5}">
                      <a16:colId xmlns:a16="http://schemas.microsoft.com/office/drawing/2014/main" val="1098675229"/>
                    </a:ext>
                  </a:extLst>
                </a:gridCol>
                <a:gridCol w="5617676">
                  <a:extLst>
                    <a:ext uri="{9D8B030D-6E8A-4147-A177-3AD203B41FA5}">
                      <a16:colId xmlns:a16="http://schemas.microsoft.com/office/drawing/2014/main" val="1746915126"/>
                    </a:ext>
                  </a:extLst>
                </a:gridCol>
              </a:tblGrid>
              <a:tr h="44060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400" b="1" kern="1200" dirty="0">
                          <a:solidFill>
                            <a:srgbClr val="EF4434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功能</a:t>
                      </a:r>
                      <a:endParaRPr lang="zh-CN" altLang="en-US" sz="2400" b="1" kern="1200" dirty="0">
                        <a:solidFill>
                          <a:srgbClr val="EF4434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400" b="1" kern="1200">
                          <a:solidFill>
                            <a:srgbClr val="EF4434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说明</a:t>
                      </a:r>
                      <a:endParaRPr lang="zh-CN" altLang="en-US" sz="2400" b="1" kern="1200">
                        <a:solidFill>
                          <a:srgbClr val="EF4434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4999225"/>
                  </a:ext>
                </a:extLst>
              </a:tr>
              <a:tr h="381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候选地点投票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成员可以对推荐地点表达选择</a:t>
                      </a:r>
                      <a:endParaRPr lang="zh-CN" altLang="en-US" sz="2000" kern="120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599204"/>
                  </a:ext>
                </a:extLst>
              </a:tr>
              <a:tr h="381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投票状态查看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成员可以查看当前轮次的投票状态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609031"/>
                  </a:ext>
                </a:extLst>
              </a:tr>
              <a:tr h="381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自动确定结果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满足结束条件后，由系统根据投票规则自动结算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305216"/>
                  </a:ext>
                </a:extLst>
              </a:tr>
              <a:tr h="381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动态重新推荐</a:t>
                      </a:r>
                      <a:endParaRPr lang="zh-CN" altLang="en-US" sz="2000" kern="120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成员偏好变化时，支持重新生成方案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1146505"/>
                  </a:ext>
                </a:extLst>
              </a:tr>
              <a:tr h="381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新一轮投票</a:t>
                      </a:r>
                      <a:endParaRPr lang="zh-CN" altLang="en-US" sz="2000" kern="120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对更新后的候选方案重新投票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3073155"/>
                  </a:ext>
                </a:extLst>
              </a:tr>
              <a:tr h="38186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集合地点导航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成员能够对最终确认的地点发起导航</a:t>
                      </a:r>
                      <a:endParaRPr lang="zh-CN" altLang="en-US" sz="2000" kern="12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8772729"/>
                  </a:ext>
                </a:extLst>
              </a:tr>
            </a:tbl>
          </a:graphicData>
        </a:graphic>
      </p:graphicFrame>
      <p:pic>
        <p:nvPicPr>
          <p:cNvPr id="45" name="图片 44">
            <a:extLst>
              <a:ext uri="{FF2B5EF4-FFF2-40B4-BE49-F238E27FC236}">
                <a16:creationId xmlns:a16="http://schemas.microsoft.com/office/drawing/2014/main" id="{E042E383-717D-CD65-1676-C374AC540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5" b="9841"/>
          <a:stretch>
            <a:fillRect/>
          </a:stretch>
        </p:blipFill>
        <p:spPr>
          <a:xfrm>
            <a:off x="10308083" y="6863933"/>
            <a:ext cx="7730234" cy="2096885"/>
          </a:xfrm>
          <a:prstGeom prst="rect">
            <a:avLst/>
          </a:prstGeom>
          <a:ln w="19050">
            <a:solidFill>
              <a:srgbClr val="EF4434"/>
            </a:solidFill>
            <a:prstDash val="dash"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733B36C-FAFB-74C2-34BA-14CA6C88E9F9}"/>
              </a:ext>
            </a:extLst>
          </p:cNvPr>
          <p:cNvSpPr/>
          <p:nvPr/>
        </p:nvSpPr>
        <p:spPr>
          <a:xfrm>
            <a:off x="10287000" y="3766073"/>
            <a:ext cx="7772400" cy="2945460"/>
          </a:xfrm>
          <a:prstGeom prst="rect">
            <a:avLst/>
          </a:prstGeom>
          <a:noFill/>
          <a:ln w="28575">
            <a:solidFill>
              <a:srgbClr val="EF4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Freeform 8">
            <a:extLst>
              <a:ext uri="{FF2B5EF4-FFF2-40B4-BE49-F238E27FC236}">
                <a16:creationId xmlns:a16="http://schemas.microsoft.com/office/drawing/2014/main" id="{8605F667-08D2-9D16-5DFE-862C249B38BF}"/>
              </a:ext>
            </a:extLst>
          </p:cNvPr>
          <p:cNvSpPr/>
          <p:nvPr/>
        </p:nvSpPr>
        <p:spPr>
          <a:xfrm rot="21353912">
            <a:off x="13875025" y="328708"/>
            <a:ext cx="3303233" cy="3449851"/>
          </a:xfrm>
          <a:custGeom>
            <a:avLst/>
            <a:gdLst/>
            <a:ahLst/>
            <a:cxnLst/>
            <a:rect l="l" t="t" r="r" b="b"/>
            <a:pathLst>
              <a:path w="3758354" h="3925174">
                <a:moveTo>
                  <a:pt x="0" y="0"/>
                </a:moveTo>
                <a:lnTo>
                  <a:pt x="3758354" y="0"/>
                </a:lnTo>
                <a:lnTo>
                  <a:pt x="3758354" y="3925174"/>
                </a:lnTo>
                <a:lnTo>
                  <a:pt x="0" y="3925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8FD15219-5BC0-A756-7160-B0F748328763}"/>
              </a:ext>
            </a:extLst>
          </p:cNvPr>
          <p:cNvSpPr txBox="1"/>
          <p:nvPr/>
        </p:nvSpPr>
        <p:spPr>
          <a:xfrm>
            <a:off x="685801" y="382365"/>
            <a:ext cx="1401286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9773"/>
              </a:lnSpc>
              <a:spcBef>
                <a:spcPct val="0"/>
              </a:spcBef>
            </a:pPr>
            <a:r>
              <a:rPr lang="en-US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ileron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5519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9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2403" y="-194167"/>
            <a:ext cx="18859252" cy="3396711"/>
            <a:chOff x="0" y="0"/>
            <a:chExt cx="4967046" cy="12826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7046" cy="1282670"/>
            </a:xfrm>
            <a:custGeom>
              <a:avLst/>
              <a:gdLst/>
              <a:ahLst/>
              <a:cxnLst/>
              <a:rect l="l" t="t" r="r" b="b"/>
              <a:pathLst>
                <a:path w="4967046" h="1282670">
                  <a:moveTo>
                    <a:pt x="0" y="0"/>
                  </a:moveTo>
                  <a:lnTo>
                    <a:pt x="4967046" y="0"/>
                  </a:lnTo>
                  <a:lnTo>
                    <a:pt x="4967046" y="1282670"/>
                  </a:lnTo>
                  <a:lnTo>
                    <a:pt x="0" y="1282670"/>
                  </a:lnTo>
                  <a:close/>
                </a:path>
              </a:pathLst>
            </a:custGeom>
            <a:solidFill>
              <a:srgbClr val="FAF9F4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67046" cy="1320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906001" y="349082"/>
            <a:ext cx="6400800" cy="2853463"/>
          </a:xfrm>
          <a:custGeom>
            <a:avLst/>
            <a:gdLst/>
            <a:ahLst/>
            <a:cxnLst/>
            <a:rect l="l" t="t" r="r" b="b"/>
            <a:pathLst>
              <a:path w="8952524" h="3991015">
                <a:moveTo>
                  <a:pt x="0" y="0"/>
                </a:moveTo>
                <a:lnTo>
                  <a:pt x="8952524" y="0"/>
                </a:lnTo>
                <a:lnTo>
                  <a:pt x="8952524" y="3991015"/>
                </a:lnTo>
                <a:lnTo>
                  <a:pt x="0" y="3991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795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914400" y="4890453"/>
            <a:ext cx="4006447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普通页面响应时间 ≤ 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2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秒</a:t>
            </a:r>
            <a:endParaRPr lang="en-US" altLang="zh-CN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投票提交反馈 ≤ 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2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秒</a:t>
            </a:r>
            <a:endParaRPr lang="en-US" altLang="zh-CN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集合点推荐在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95%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的正常请求中 ≤ 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10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秒</a:t>
            </a:r>
            <a:endParaRPr lang="en-US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618418" y="4890453"/>
            <a:ext cx="475518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系统月度可用性 ≥ 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99%</a:t>
            </a: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地图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API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调用失败时，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5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秒内向用户反馈异常并提供重试选项</a:t>
            </a:r>
            <a:endParaRPr lang="en-US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576950" y="4890453"/>
            <a:ext cx="4698443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支持至少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50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个用户同时在线操作</a:t>
            </a:r>
            <a:endParaRPr lang="en-US" altLang="zh-CN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单个集合活动支持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2–10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名参与者</a:t>
            </a:r>
            <a:endParaRPr lang="en-US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4075211"/>
            <a:ext cx="229169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3600" b="1" spc="-36" dirty="0">
                <a:solidFill>
                  <a:srgbClr val="FAF9F4"/>
                </a:solidFill>
                <a:latin typeface="Arial" panose="020B0604020202020204" pitchFamily="34" charset="0"/>
                <a:ea typeface="Open Sauce Bold"/>
                <a:cs typeface="Open Sauce Bold"/>
                <a:sym typeface="Open Sauce Bold"/>
              </a:rPr>
              <a:t>性能需求</a:t>
            </a:r>
            <a:endParaRPr lang="en-US" sz="3600" b="1" spc="-36" dirty="0">
              <a:solidFill>
                <a:srgbClr val="FAF9F4"/>
              </a:solidFill>
              <a:latin typeface="Arial" panose="020B0604020202020204" pitchFamily="3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618418" y="4075211"/>
            <a:ext cx="259443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3600" b="1" spc="-36" dirty="0">
                <a:solidFill>
                  <a:srgbClr val="FAF9F4"/>
                </a:solidFill>
                <a:latin typeface="Arial" panose="020B0604020202020204" pitchFamily="34" charset="0"/>
                <a:ea typeface="Open Sauce Bold"/>
                <a:cs typeface="Open Sauce Bold"/>
                <a:sym typeface="Open Sauce Bold"/>
              </a:rPr>
              <a:t>系统可靠性</a:t>
            </a:r>
            <a:endParaRPr lang="en-US" sz="3600" b="1" spc="-36" dirty="0">
              <a:solidFill>
                <a:srgbClr val="FAF9F4"/>
              </a:solidFill>
              <a:latin typeface="Arial" panose="020B0604020202020204" pitchFamily="3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76950" y="4075211"/>
            <a:ext cx="319819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3600" b="1" spc="-36" dirty="0">
                <a:solidFill>
                  <a:srgbClr val="FAF9F4"/>
                </a:solidFill>
                <a:latin typeface="Arial" panose="020B0604020202020204" pitchFamily="34" charset="0"/>
                <a:ea typeface="Open Sauce Bold"/>
                <a:cs typeface="Open Sauce Bold"/>
                <a:sym typeface="Open Sauce Bold"/>
              </a:rPr>
              <a:t>并发能力</a:t>
            </a:r>
            <a:endParaRPr lang="en-US" sz="3600" b="1" spc="-36" dirty="0">
              <a:solidFill>
                <a:srgbClr val="FAF9F4"/>
              </a:solidFill>
              <a:latin typeface="Arial" panose="020B0604020202020204" pitchFamily="34" charset="0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914400" y="3784169"/>
            <a:ext cx="12730660" cy="28575"/>
            <a:chOff x="0" y="0"/>
            <a:chExt cx="16974213" cy="38100"/>
          </a:xfrm>
        </p:grpSpPr>
        <p:sp>
          <p:nvSpPr>
            <p:cNvPr id="14" name="AutoShape 14"/>
            <p:cNvSpPr/>
            <p:nvPr/>
          </p:nvSpPr>
          <p:spPr>
            <a:xfrm flipV="1">
              <a:off x="0" y="19050"/>
              <a:ext cx="1368856" cy="0"/>
            </a:xfrm>
            <a:prstGeom prst="line">
              <a:avLst/>
            </a:prstGeom>
            <a:ln w="38100" cap="flat">
              <a:solidFill>
                <a:srgbClr val="FAF9F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7550067" y="19050"/>
              <a:ext cx="1368856" cy="0"/>
            </a:xfrm>
            <a:prstGeom prst="line">
              <a:avLst/>
            </a:prstGeom>
            <a:ln w="38100" cap="flat">
              <a:solidFill>
                <a:srgbClr val="FAF9F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15605357" y="19050"/>
              <a:ext cx="1368856" cy="0"/>
            </a:xfrm>
            <a:prstGeom prst="line">
              <a:avLst/>
            </a:prstGeom>
            <a:ln w="38100" cap="flat">
              <a:solidFill>
                <a:srgbClr val="FAF9F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" name="TextBox 2">
            <a:extLst>
              <a:ext uri="{FF2B5EF4-FFF2-40B4-BE49-F238E27FC236}">
                <a16:creationId xmlns:a16="http://schemas.microsoft.com/office/drawing/2014/main" id="{ADAA385C-8B59-3A61-CC14-8BD2E2FCD1E5}"/>
              </a:ext>
            </a:extLst>
          </p:cNvPr>
          <p:cNvSpPr txBox="1"/>
          <p:nvPr/>
        </p:nvSpPr>
        <p:spPr>
          <a:xfrm>
            <a:off x="2087087" y="233029"/>
            <a:ext cx="3551713" cy="1059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73"/>
              </a:lnSpc>
              <a:spcBef>
                <a:spcPct val="0"/>
              </a:spcBef>
            </a:pPr>
            <a:r>
              <a:rPr lang="zh-CN" altLang="en-US" sz="540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Aileron"/>
              </a:rPr>
              <a:t>非功能需求</a:t>
            </a:r>
            <a:endParaRPr lang="en-US" sz="5400" b="1" u="none" strike="noStrike" dirty="0">
              <a:solidFill>
                <a:srgbClr val="EF4434"/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Aileron"/>
            </a:endParaRP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70E6661F-CBA5-57D3-0A0C-F78D75ABB6BC}"/>
              </a:ext>
            </a:extLst>
          </p:cNvPr>
          <p:cNvSpPr txBox="1"/>
          <p:nvPr/>
        </p:nvSpPr>
        <p:spPr>
          <a:xfrm>
            <a:off x="914400" y="8050609"/>
            <a:ext cx="4006447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用户可自主控制位置是否对其他成员公开</a:t>
            </a:r>
            <a:endParaRPr lang="en-US" altLang="zh-CN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未获授权不得公开精确出发地</a:t>
            </a:r>
            <a:endParaRPr lang="en-US" altLang="zh-CN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通信使用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HTTPS</a:t>
            </a:r>
            <a:endParaRPr lang="en-US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637D09A8-ED52-EA4F-E66A-D5771EDB3323}"/>
              </a:ext>
            </a:extLst>
          </p:cNvPr>
          <p:cNvSpPr txBox="1"/>
          <p:nvPr/>
        </p:nvSpPr>
        <p:spPr>
          <a:xfrm>
            <a:off x="12618418" y="8050609"/>
            <a:ext cx="513618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支持最近两个主要版本的微信及主流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Android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、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iOS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设备</a:t>
            </a:r>
            <a:endParaRPr lang="en-US" altLang="zh-CN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主要页面不出现影响操作的布局错误</a:t>
            </a:r>
            <a:endParaRPr lang="en-US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95494FF9-3684-5866-948A-D5081F7026AF}"/>
              </a:ext>
            </a:extLst>
          </p:cNvPr>
          <p:cNvSpPr txBox="1"/>
          <p:nvPr/>
        </p:nvSpPr>
        <p:spPr>
          <a:xfrm>
            <a:off x="6576950" y="8050609"/>
            <a:ext cx="4698443" cy="96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新用户在无额外指导的情况下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90%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能够在</a:t>
            </a:r>
            <a:r>
              <a:rPr lang="en-US" altLang="zh-CN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3</a:t>
            </a:r>
            <a:r>
              <a:rPr lang="zh-CN" altLang="en-US" sz="2400" spc="-18" dirty="0">
                <a:solidFill>
                  <a:srgbClr val="FAF9F4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pen Sauce Light"/>
              </a:rPr>
              <a:t>分钟内完成创建或加入活动并提交需求</a:t>
            </a:r>
            <a:endParaRPr lang="en-US" sz="2400" spc="-18" dirty="0">
              <a:solidFill>
                <a:srgbClr val="FAF9F4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pen Sauce Light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B8735018-A275-2C89-5409-9C8AE4A75D18}"/>
              </a:ext>
            </a:extLst>
          </p:cNvPr>
          <p:cNvSpPr txBox="1"/>
          <p:nvPr/>
        </p:nvSpPr>
        <p:spPr>
          <a:xfrm>
            <a:off x="914400" y="7235367"/>
            <a:ext cx="2291690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3600" b="1" spc="-36" dirty="0">
                <a:solidFill>
                  <a:srgbClr val="FAF9F4"/>
                </a:solidFill>
                <a:latin typeface="Arial" panose="020B0604020202020204" pitchFamily="34" charset="0"/>
                <a:ea typeface="Open Sauce Bold"/>
                <a:cs typeface="Open Sauce Bold"/>
                <a:sym typeface="Open Sauce Bold"/>
              </a:rPr>
              <a:t>安全与隐私</a:t>
            </a:r>
            <a:endParaRPr lang="en-US" sz="3600" b="1" spc="-36" dirty="0">
              <a:solidFill>
                <a:srgbClr val="FAF9F4"/>
              </a:solidFill>
              <a:latin typeface="Arial" panose="020B0604020202020204" pitchFamily="3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66672F41-28E2-5C65-BF1D-A5ABF476ACE5}"/>
              </a:ext>
            </a:extLst>
          </p:cNvPr>
          <p:cNvSpPr txBox="1"/>
          <p:nvPr/>
        </p:nvSpPr>
        <p:spPr>
          <a:xfrm>
            <a:off x="12618418" y="7235367"/>
            <a:ext cx="259443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3600" b="1" spc="-36" dirty="0">
                <a:solidFill>
                  <a:srgbClr val="FAF9F4"/>
                </a:solidFill>
                <a:latin typeface="Arial" panose="020B0604020202020204" pitchFamily="34" charset="0"/>
                <a:ea typeface="Open Sauce Bold"/>
                <a:cs typeface="Open Sauce Bold"/>
                <a:sym typeface="Open Sauce Bold"/>
              </a:rPr>
              <a:t>平台兼容性</a:t>
            </a:r>
            <a:endParaRPr lang="en-US" sz="3600" b="1" spc="-36" dirty="0">
              <a:solidFill>
                <a:srgbClr val="FAF9F4"/>
              </a:solidFill>
              <a:latin typeface="Arial" panose="020B0604020202020204" pitchFamily="34" charset="0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16A61566-0370-403E-C020-C6A8A7F5385C}"/>
              </a:ext>
            </a:extLst>
          </p:cNvPr>
          <p:cNvSpPr txBox="1"/>
          <p:nvPr/>
        </p:nvSpPr>
        <p:spPr>
          <a:xfrm>
            <a:off x="6576950" y="7235367"/>
            <a:ext cx="3198196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</a:pPr>
            <a:r>
              <a:rPr lang="zh-CN" altLang="en-US" sz="3600" b="1" spc="-36" dirty="0">
                <a:solidFill>
                  <a:srgbClr val="FAF9F4"/>
                </a:solidFill>
                <a:latin typeface="Arial" panose="020B0604020202020204" pitchFamily="34" charset="0"/>
                <a:ea typeface="Open Sauce Bold"/>
                <a:cs typeface="Open Sauce Bold"/>
                <a:sym typeface="Open Sauce Bold"/>
              </a:rPr>
              <a:t>操作易用性</a:t>
            </a:r>
            <a:endParaRPr lang="en-US" sz="3600" b="1" spc="-36" dirty="0">
              <a:solidFill>
                <a:srgbClr val="FAF9F4"/>
              </a:solidFill>
              <a:latin typeface="Arial" panose="020B0604020202020204" pitchFamily="34" charset="0"/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29" name="Group 13">
            <a:extLst>
              <a:ext uri="{FF2B5EF4-FFF2-40B4-BE49-F238E27FC236}">
                <a16:creationId xmlns:a16="http://schemas.microsoft.com/office/drawing/2014/main" id="{0347FF4E-0183-0B95-2598-EDE6829AB640}"/>
              </a:ext>
            </a:extLst>
          </p:cNvPr>
          <p:cNvGrpSpPr/>
          <p:nvPr/>
        </p:nvGrpSpPr>
        <p:grpSpPr>
          <a:xfrm>
            <a:off x="914400" y="6944325"/>
            <a:ext cx="12730660" cy="28575"/>
            <a:chOff x="0" y="0"/>
            <a:chExt cx="16974213" cy="38100"/>
          </a:xfrm>
        </p:grpSpPr>
        <p:sp>
          <p:nvSpPr>
            <p:cNvPr id="30" name="AutoShape 14">
              <a:extLst>
                <a:ext uri="{FF2B5EF4-FFF2-40B4-BE49-F238E27FC236}">
                  <a16:creationId xmlns:a16="http://schemas.microsoft.com/office/drawing/2014/main" id="{B193227D-47A3-322D-E3F2-EC7D5ED688C2}"/>
                </a:ext>
              </a:extLst>
            </p:cNvPr>
            <p:cNvSpPr/>
            <p:nvPr/>
          </p:nvSpPr>
          <p:spPr>
            <a:xfrm flipV="1">
              <a:off x="0" y="19050"/>
              <a:ext cx="1368856" cy="0"/>
            </a:xfrm>
            <a:prstGeom prst="line">
              <a:avLst/>
            </a:prstGeom>
            <a:ln w="38100" cap="flat">
              <a:solidFill>
                <a:srgbClr val="FAF9F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AutoShape 15">
              <a:extLst>
                <a:ext uri="{FF2B5EF4-FFF2-40B4-BE49-F238E27FC236}">
                  <a16:creationId xmlns:a16="http://schemas.microsoft.com/office/drawing/2014/main" id="{0A968C54-58BE-427B-AED3-F4F5DE8F8491}"/>
                </a:ext>
              </a:extLst>
            </p:cNvPr>
            <p:cNvSpPr/>
            <p:nvPr/>
          </p:nvSpPr>
          <p:spPr>
            <a:xfrm flipV="1">
              <a:off x="7550067" y="19050"/>
              <a:ext cx="1368856" cy="0"/>
            </a:xfrm>
            <a:prstGeom prst="line">
              <a:avLst/>
            </a:prstGeom>
            <a:ln w="38100" cap="flat">
              <a:solidFill>
                <a:srgbClr val="FAF9F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AutoShape 16">
              <a:extLst>
                <a:ext uri="{FF2B5EF4-FFF2-40B4-BE49-F238E27FC236}">
                  <a16:creationId xmlns:a16="http://schemas.microsoft.com/office/drawing/2014/main" id="{F30EB3F8-D791-CCD7-C6F4-EC4639E221DE}"/>
                </a:ext>
              </a:extLst>
            </p:cNvPr>
            <p:cNvSpPr/>
            <p:nvPr/>
          </p:nvSpPr>
          <p:spPr>
            <a:xfrm flipV="1">
              <a:off x="15605357" y="19050"/>
              <a:ext cx="1368856" cy="0"/>
            </a:xfrm>
            <a:prstGeom prst="line">
              <a:avLst/>
            </a:prstGeom>
            <a:ln w="38100" cap="flat">
              <a:solidFill>
                <a:srgbClr val="FAF9F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TextBox 2">
            <a:extLst>
              <a:ext uri="{FF2B5EF4-FFF2-40B4-BE49-F238E27FC236}">
                <a16:creationId xmlns:a16="http://schemas.microsoft.com/office/drawing/2014/main" id="{CA2AB0D6-670C-381C-EE61-822A34FD1531}"/>
              </a:ext>
            </a:extLst>
          </p:cNvPr>
          <p:cNvSpPr txBox="1"/>
          <p:nvPr/>
        </p:nvSpPr>
        <p:spPr>
          <a:xfrm>
            <a:off x="685801" y="382365"/>
            <a:ext cx="1401286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>
              <a:lnSpc>
                <a:spcPts val="9773"/>
              </a:lnSpc>
              <a:spcBef>
                <a:spcPct val="0"/>
              </a:spcBef>
            </a:pPr>
            <a:r>
              <a:rPr lang="en-US" sz="9770" b="1" dirty="0">
                <a:solidFill>
                  <a:srgbClr val="EF4434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ileron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">
            <a:extLst>
              <a:ext uri="{FF2B5EF4-FFF2-40B4-BE49-F238E27FC236}">
                <a16:creationId xmlns:a16="http://schemas.microsoft.com/office/drawing/2014/main" id="{4B7A917C-2E43-FC88-78B8-0E7AB3BF006E}"/>
              </a:ext>
            </a:extLst>
          </p:cNvPr>
          <p:cNvSpPr txBox="1"/>
          <p:nvPr/>
        </p:nvSpPr>
        <p:spPr>
          <a:xfrm>
            <a:off x="843969" y="1327582"/>
            <a:ext cx="11889315" cy="1626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16"/>
              </a:lnSpc>
            </a:pPr>
            <a:r>
              <a:rPr lang="en-US" sz="14000" b="1" spc="-100" dirty="0" err="1">
                <a:solidFill>
                  <a:srgbClr val="EF4434"/>
                </a:solidFill>
                <a:latin typeface="Arial" panose="020B0604020202020204" pitchFamily="34" charset="0"/>
                <a:cs typeface="Arial" panose="020B0604020202020204" pitchFamily="34" charset="0"/>
                <a:sym typeface="Aileron Bold"/>
              </a:rPr>
              <a:t>MeetPoint</a:t>
            </a:r>
            <a:endParaRPr lang="en-US" sz="14000" b="1" spc="-100" dirty="0">
              <a:solidFill>
                <a:srgbClr val="EF4434"/>
              </a:solidFill>
              <a:latin typeface="Arial" panose="020B0604020202020204" pitchFamily="34" charset="0"/>
              <a:cs typeface="Arial" panose="020B0604020202020204" pitchFamily="34" charset="0"/>
              <a:sym typeface="Aileron Bold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ED64595-4A0E-96F0-5D4E-4B3125A11519}"/>
              </a:ext>
            </a:extLst>
          </p:cNvPr>
          <p:cNvSpPr txBox="1"/>
          <p:nvPr/>
        </p:nvSpPr>
        <p:spPr>
          <a:xfrm>
            <a:off x="-1447800" y="3086100"/>
            <a:ext cx="16472854" cy="415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zh-CN" altLang="en-US" sz="5400" b="1" dirty="0">
                <a:latin typeface="黑体" panose="02010609060101010101" pitchFamily="49" charset="-122"/>
                <a:ea typeface="黑体" panose="02010609060101010101" pitchFamily="49" charset="-122"/>
                <a:cs typeface="Open Sauce Light"/>
                <a:sym typeface="Open Sauce Light"/>
              </a:rPr>
              <a:t>不止于寻找一个中心的集合地点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12263A23-04B4-1D5F-DAB6-2F554878B466}"/>
              </a:ext>
            </a:extLst>
          </p:cNvPr>
          <p:cNvSpPr txBox="1"/>
          <p:nvPr/>
        </p:nvSpPr>
        <p:spPr>
          <a:xfrm>
            <a:off x="843969" y="3091723"/>
            <a:ext cx="11889315" cy="1289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616"/>
              </a:lnSpc>
            </a:pPr>
            <a:r>
              <a:rPr lang="zh-CN" altLang="en-US" sz="2800" b="1" spc="-1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  <a:sym typeface="Aileron Bold"/>
              </a:rPr>
              <a:t>感谢聆听，欢迎讨论</a:t>
            </a:r>
            <a:endParaRPr lang="en-US" sz="2800" b="1" spc="-1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  <a:sym typeface="Aileron Bold"/>
            </a:endParaRP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5F11562F-C8C3-8174-A998-F1AB90E1CFE5}"/>
              </a:ext>
            </a:extLst>
          </p:cNvPr>
          <p:cNvSpPr/>
          <p:nvPr/>
        </p:nvSpPr>
        <p:spPr>
          <a:xfrm>
            <a:off x="-215894" y="3998426"/>
            <a:ext cx="6666868" cy="6771258"/>
          </a:xfrm>
          <a:custGeom>
            <a:avLst/>
            <a:gdLst/>
            <a:ahLst/>
            <a:cxnLst/>
            <a:rect l="l" t="t" r="r" b="b"/>
            <a:pathLst>
              <a:path w="6666868" h="6771258">
                <a:moveTo>
                  <a:pt x="0" y="0"/>
                </a:moveTo>
                <a:lnTo>
                  <a:pt x="6666868" y="0"/>
                </a:lnTo>
                <a:lnTo>
                  <a:pt x="6666868" y="6771258"/>
                </a:lnTo>
                <a:lnTo>
                  <a:pt x="0" y="6771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4535C248-3BC0-799A-E4EB-8BC984BB5737}"/>
              </a:ext>
            </a:extLst>
          </p:cNvPr>
          <p:cNvGrpSpPr/>
          <p:nvPr/>
        </p:nvGrpSpPr>
        <p:grpSpPr>
          <a:xfrm>
            <a:off x="9897994" y="5053020"/>
            <a:ext cx="6074769" cy="6074769"/>
            <a:chOff x="0" y="0"/>
            <a:chExt cx="812800" cy="812800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A6672C3B-921E-98C9-7C40-8070DBE8D37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6843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AA130656-CB9C-B671-BAF3-128AF41386AE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8"/>
                </a:lnSpc>
              </a:pPr>
              <a:endParaRPr/>
            </a:p>
          </p:txBody>
        </p:sp>
      </p:grpSp>
      <p:sp>
        <p:nvSpPr>
          <p:cNvPr id="25" name="Freeform 5">
            <a:extLst>
              <a:ext uri="{FF2B5EF4-FFF2-40B4-BE49-F238E27FC236}">
                <a16:creationId xmlns:a16="http://schemas.microsoft.com/office/drawing/2014/main" id="{75A7AD37-71CE-3402-F349-F2D867A8CB43}"/>
              </a:ext>
            </a:extLst>
          </p:cNvPr>
          <p:cNvSpPr/>
          <p:nvPr/>
        </p:nvSpPr>
        <p:spPr>
          <a:xfrm>
            <a:off x="10514247" y="858792"/>
            <a:ext cx="7926153" cy="9996200"/>
          </a:xfrm>
          <a:custGeom>
            <a:avLst/>
            <a:gdLst/>
            <a:ahLst/>
            <a:cxnLst/>
            <a:rect l="l" t="t" r="r" b="b"/>
            <a:pathLst>
              <a:path w="7926153" h="9996200">
                <a:moveTo>
                  <a:pt x="0" y="0"/>
                </a:moveTo>
                <a:lnTo>
                  <a:pt x="7926153" y="0"/>
                </a:lnTo>
                <a:lnTo>
                  <a:pt x="7926153" y="9996200"/>
                </a:lnTo>
                <a:lnTo>
                  <a:pt x="0" y="999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2023</Words>
  <Application>Microsoft Office PowerPoint</Application>
  <PresentationFormat>自定义</PresentationFormat>
  <Paragraphs>144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黑体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戢好 曾</cp:lastModifiedBy>
  <cp:revision>70</cp:revision>
  <dcterms:created xsi:type="dcterms:W3CDTF">2006-08-16T00:00:00Z</dcterms:created>
  <dcterms:modified xsi:type="dcterms:W3CDTF">2026-10-15T02:09:47Z</dcterms:modified>
  <cp:category/>
  <dc:identifier>DAGPmh5ZqZM</dc:identifier>
</cp:coreProperties>
</file>